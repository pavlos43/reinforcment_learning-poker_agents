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6" r:id="rId6"/>
    <p:sldId id="260" r:id="rId7"/>
    <p:sldId id="261" r:id="rId8"/>
    <p:sldId id="262" r:id="rId9"/>
    <p:sldId id="263" r:id="rId10"/>
    <p:sldId id="264" r:id="rId11"/>
    <p:sldId id="277" r:id="rId12"/>
    <p:sldId id="265" r:id="rId13"/>
    <p:sldId id="275" r:id="rId14"/>
    <p:sldId id="266" r:id="rId15"/>
    <p:sldId id="267" r:id="rId16"/>
    <p:sldId id="268" r:id="rId17"/>
    <p:sldId id="273" r:id="rId18"/>
    <p:sldId id="269" r:id="rId19"/>
    <p:sldId id="270" r:id="rId20"/>
    <p:sldId id="274" r:id="rId21"/>
    <p:sldId id="271" r:id="rId22"/>
    <p:sldId id="272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6A4F"/>
    <a:srgbClr val="FDE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0ECC8A-783D-4B9D-9587-FB14405BBE51}" v="48" dt="2026-06-29T08:45:11.1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62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los Horn" userId="801a36894d8a3e24" providerId="LiveId" clId="{8F9ADD0E-7720-49C4-A188-D3271E335A9F}"/>
    <pc:docChg chg="undo custSel addSld delSld modSld sldOrd">
      <pc:chgData name="Pavlos Horn" userId="801a36894d8a3e24" providerId="LiveId" clId="{8F9ADD0E-7720-49C4-A188-D3271E335A9F}" dt="2026-06-29T09:28:28.642" v="123" actId="1076"/>
      <pc:docMkLst>
        <pc:docMk/>
      </pc:docMkLst>
      <pc:sldChg chg="modAnim">
        <pc:chgData name="Pavlos Horn" userId="801a36894d8a3e24" providerId="LiveId" clId="{8F9ADD0E-7720-49C4-A188-D3271E335A9F}" dt="2026-06-29T08:40:47.363" v="56"/>
        <pc:sldMkLst>
          <pc:docMk/>
          <pc:sldMk cId="0" sldId="257"/>
        </pc:sldMkLst>
      </pc:sldChg>
      <pc:sldChg chg="mod modShow">
        <pc:chgData name="Pavlos Horn" userId="801a36894d8a3e24" providerId="LiveId" clId="{8F9ADD0E-7720-49C4-A188-D3271E335A9F}" dt="2026-06-29T08:40:53.334" v="57" actId="729"/>
        <pc:sldMkLst>
          <pc:docMk/>
          <pc:sldMk cId="0" sldId="258"/>
        </pc:sldMkLst>
      </pc:sldChg>
      <pc:sldChg chg="delSp mod">
        <pc:chgData name="Pavlos Horn" userId="801a36894d8a3e24" providerId="LiveId" clId="{8F9ADD0E-7720-49C4-A188-D3271E335A9F}" dt="2026-06-29T07:58:52.404" v="1" actId="478"/>
        <pc:sldMkLst>
          <pc:docMk/>
          <pc:sldMk cId="0" sldId="262"/>
        </pc:sldMkLst>
        <pc:spChg chg="del">
          <ac:chgData name="Pavlos Horn" userId="801a36894d8a3e24" providerId="LiveId" clId="{8F9ADD0E-7720-49C4-A188-D3271E335A9F}" dt="2026-06-29T07:58:52.404" v="1" actId="478"/>
          <ac:spMkLst>
            <pc:docMk/>
            <pc:sldMk cId="0" sldId="262"/>
            <ac:spMk id="4" creationId="{00000000-0000-0000-0000-000000000000}"/>
          </ac:spMkLst>
        </pc:spChg>
        <pc:spChg chg="del">
          <ac:chgData name="Pavlos Horn" userId="801a36894d8a3e24" providerId="LiveId" clId="{8F9ADD0E-7720-49C4-A188-D3271E335A9F}" dt="2026-06-29T07:58:51.217" v="0" actId="478"/>
          <ac:spMkLst>
            <pc:docMk/>
            <pc:sldMk cId="0" sldId="262"/>
            <ac:spMk id="5" creationId="{00000000-0000-0000-0000-000000000000}"/>
          </ac:spMkLst>
        </pc:spChg>
      </pc:sldChg>
      <pc:sldChg chg="delSp mod">
        <pc:chgData name="Pavlos Horn" userId="801a36894d8a3e24" providerId="LiveId" clId="{8F9ADD0E-7720-49C4-A188-D3271E335A9F}" dt="2026-06-29T07:58:55.645" v="3" actId="478"/>
        <pc:sldMkLst>
          <pc:docMk/>
          <pc:sldMk cId="0" sldId="263"/>
        </pc:sldMkLst>
        <pc:spChg chg="del">
          <ac:chgData name="Pavlos Horn" userId="801a36894d8a3e24" providerId="LiveId" clId="{8F9ADD0E-7720-49C4-A188-D3271E335A9F}" dt="2026-06-29T07:58:55.645" v="3" actId="478"/>
          <ac:spMkLst>
            <pc:docMk/>
            <pc:sldMk cId="0" sldId="263"/>
            <ac:spMk id="4" creationId="{00000000-0000-0000-0000-000000000000}"/>
          </ac:spMkLst>
        </pc:spChg>
        <pc:spChg chg="del">
          <ac:chgData name="Pavlos Horn" userId="801a36894d8a3e24" providerId="LiveId" clId="{8F9ADD0E-7720-49C4-A188-D3271E335A9F}" dt="2026-06-29T07:58:55.094" v="2" actId="478"/>
          <ac:spMkLst>
            <pc:docMk/>
            <pc:sldMk cId="0" sldId="263"/>
            <ac:spMk id="5" creationId="{00000000-0000-0000-0000-000000000000}"/>
          </ac:spMkLst>
        </pc:spChg>
      </pc:sldChg>
      <pc:sldChg chg="addSp delSp modSp mod">
        <pc:chgData name="Pavlos Horn" userId="801a36894d8a3e24" providerId="LiveId" clId="{8F9ADD0E-7720-49C4-A188-D3271E335A9F}" dt="2026-06-29T09:28:28.642" v="123" actId="1076"/>
        <pc:sldMkLst>
          <pc:docMk/>
          <pc:sldMk cId="0" sldId="265"/>
        </pc:sldMkLst>
        <pc:picChg chg="add mod">
          <ac:chgData name="Pavlos Horn" userId="801a36894d8a3e24" providerId="LiveId" clId="{8F9ADD0E-7720-49C4-A188-D3271E335A9F}" dt="2026-06-29T09:28:01.476" v="119" actId="1076"/>
          <ac:picMkLst>
            <pc:docMk/>
            <pc:sldMk cId="0" sldId="265"/>
            <ac:picMk id="5" creationId="{4AE5739F-8034-43C4-6B26-7AF4E7B6F2B5}"/>
          </ac:picMkLst>
        </pc:picChg>
        <pc:picChg chg="del">
          <ac:chgData name="Pavlos Horn" userId="801a36894d8a3e24" providerId="LiveId" clId="{8F9ADD0E-7720-49C4-A188-D3271E335A9F}" dt="2026-06-29T09:28:21.634" v="120" actId="478"/>
          <ac:picMkLst>
            <pc:docMk/>
            <pc:sldMk cId="0" sldId="265"/>
            <ac:picMk id="7" creationId="{00000000-0000-0000-0000-000000000000}"/>
          </ac:picMkLst>
        </pc:picChg>
        <pc:picChg chg="add mod">
          <ac:chgData name="Pavlos Horn" userId="801a36894d8a3e24" providerId="LiveId" clId="{8F9ADD0E-7720-49C4-A188-D3271E335A9F}" dt="2026-06-29T09:28:28.642" v="123" actId="1076"/>
          <ac:picMkLst>
            <pc:docMk/>
            <pc:sldMk cId="0" sldId="265"/>
            <ac:picMk id="9" creationId="{734550F1-0CA4-C757-4C48-CAC8FEDE057B}"/>
          </ac:picMkLst>
        </pc:picChg>
        <pc:picChg chg="del">
          <ac:chgData name="Pavlos Horn" userId="801a36894d8a3e24" providerId="LiveId" clId="{8F9ADD0E-7720-49C4-A188-D3271E335A9F}" dt="2026-06-29T09:27:52.402" v="114" actId="478"/>
          <ac:picMkLst>
            <pc:docMk/>
            <pc:sldMk cId="0" sldId="265"/>
            <ac:picMk id="26" creationId="{00000000-0000-0000-0000-000000000000}"/>
          </ac:picMkLst>
        </pc:picChg>
      </pc:sldChg>
      <pc:sldChg chg="delSp mod">
        <pc:chgData name="Pavlos Horn" userId="801a36894d8a3e24" providerId="LiveId" clId="{8F9ADD0E-7720-49C4-A188-D3271E335A9F}" dt="2026-06-29T07:59:01.257" v="4" actId="478"/>
        <pc:sldMkLst>
          <pc:docMk/>
          <pc:sldMk cId="0" sldId="268"/>
        </pc:sldMkLst>
        <pc:spChg chg="del">
          <ac:chgData name="Pavlos Horn" userId="801a36894d8a3e24" providerId="LiveId" clId="{8F9ADD0E-7720-49C4-A188-D3271E335A9F}" dt="2026-06-29T07:59:01.257" v="4" actId="478"/>
          <ac:spMkLst>
            <pc:docMk/>
            <pc:sldMk cId="0" sldId="268"/>
            <ac:spMk id="4" creationId="{00000000-0000-0000-0000-000000000000}"/>
          </ac:spMkLst>
        </pc:spChg>
      </pc:sldChg>
      <pc:sldChg chg="modSp add del mod ord setBg">
        <pc:chgData name="Pavlos Horn" userId="801a36894d8a3e24" providerId="LiveId" clId="{8F9ADD0E-7720-49C4-A188-D3271E335A9F}" dt="2026-06-29T08:08:10.189" v="14" actId="1076"/>
        <pc:sldMkLst>
          <pc:docMk/>
          <pc:sldMk cId="0" sldId="276"/>
        </pc:sldMkLst>
        <pc:spChg chg="mod">
          <ac:chgData name="Pavlos Horn" userId="801a36894d8a3e24" providerId="LiveId" clId="{8F9ADD0E-7720-49C4-A188-D3271E335A9F}" dt="2026-06-29T08:08:10.189" v="14" actId="1076"/>
          <ac:spMkLst>
            <pc:docMk/>
            <pc:sldMk cId="0" sldId="276"/>
            <ac:spMk id="4" creationId="{00000000-0000-0000-0000-000000000000}"/>
          </ac:spMkLst>
        </pc:spChg>
        <pc:spChg chg="mod">
          <ac:chgData name="Pavlos Horn" userId="801a36894d8a3e24" providerId="LiveId" clId="{8F9ADD0E-7720-49C4-A188-D3271E335A9F}" dt="2026-06-29T08:08:10.189" v="14" actId="1076"/>
          <ac:spMkLst>
            <pc:docMk/>
            <pc:sldMk cId="0" sldId="276"/>
            <ac:spMk id="5" creationId="{00000000-0000-0000-0000-000000000000}"/>
          </ac:spMkLst>
        </pc:spChg>
        <pc:spChg chg="mod">
          <ac:chgData name="Pavlos Horn" userId="801a36894d8a3e24" providerId="LiveId" clId="{8F9ADD0E-7720-49C4-A188-D3271E335A9F}" dt="2026-06-29T08:08:10.189" v="14" actId="1076"/>
          <ac:spMkLst>
            <pc:docMk/>
            <pc:sldMk cId="0" sldId="276"/>
            <ac:spMk id="6" creationId="{00000000-0000-0000-0000-000000000000}"/>
          </ac:spMkLst>
        </pc:spChg>
        <pc:spChg chg="mod">
          <ac:chgData name="Pavlos Horn" userId="801a36894d8a3e24" providerId="LiveId" clId="{8F9ADD0E-7720-49C4-A188-D3271E335A9F}" dt="2026-06-29T08:08:10.189" v="14" actId="1076"/>
          <ac:spMkLst>
            <pc:docMk/>
            <pc:sldMk cId="0" sldId="276"/>
            <ac:spMk id="7" creationId="{00000000-0000-0000-0000-000000000000}"/>
          </ac:spMkLst>
        </pc:spChg>
        <pc:spChg chg="mod">
          <ac:chgData name="Pavlos Horn" userId="801a36894d8a3e24" providerId="LiveId" clId="{8F9ADD0E-7720-49C4-A188-D3271E335A9F}" dt="2026-06-29T08:08:10.189" v="14" actId="1076"/>
          <ac:spMkLst>
            <pc:docMk/>
            <pc:sldMk cId="0" sldId="276"/>
            <ac:spMk id="8" creationId="{00000000-0000-0000-0000-000000000000}"/>
          </ac:spMkLst>
        </pc:spChg>
        <pc:spChg chg="mod">
          <ac:chgData name="Pavlos Horn" userId="801a36894d8a3e24" providerId="LiveId" clId="{8F9ADD0E-7720-49C4-A188-D3271E335A9F}" dt="2026-06-29T08:08:10.189" v="14" actId="1076"/>
          <ac:spMkLst>
            <pc:docMk/>
            <pc:sldMk cId="0" sldId="276"/>
            <ac:spMk id="9" creationId="{00000000-0000-0000-0000-000000000000}"/>
          </ac:spMkLst>
        </pc:spChg>
      </pc:sldChg>
      <pc:sldChg chg="modSp add del mod ord setBg">
        <pc:chgData name="Pavlos Horn" userId="801a36894d8a3e24" providerId="LiveId" clId="{8F9ADD0E-7720-49C4-A188-D3271E335A9F}" dt="2026-06-29T08:46:22.800" v="113" actId="1076"/>
        <pc:sldMkLst>
          <pc:docMk/>
          <pc:sldMk cId="0" sldId="277"/>
        </pc:sldMkLst>
        <pc:spChg chg="mod">
          <ac:chgData name="Pavlos Horn" userId="801a36894d8a3e24" providerId="LiveId" clId="{8F9ADD0E-7720-49C4-A188-D3271E335A9F}" dt="2026-06-29T08:45:32.313" v="87" actId="20577"/>
          <ac:spMkLst>
            <pc:docMk/>
            <pc:sldMk cId="0" sldId="277"/>
            <ac:spMk id="3" creationId="{00000000-0000-0000-0000-000000000000}"/>
          </ac:spMkLst>
        </pc:spChg>
        <pc:spChg chg="mod">
          <ac:chgData name="Pavlos Horn" userId="801a36894d8a3e24" providerId="LiveId" clId="{8F9ADD0E-7720-49C4-A188-D3271E335A9F}" dt="2026-06-29T08:46:22.800" v="113" actId="1076"/>
          <ac:spMkLst>
            <pc:docMk/>
            <pc:sldMk cId="0" sldId="277"/>
            <ac:spMk id="4" creationId="{00000000-0000-0000-0000-000000000000}"/>
          </ac:spMkLst>
        </pc:spChg>
        <pc:spChg chg="mod">
          <ac:chgData name="Pavlos Horn" userId="801a36894d8a3e24" providerId="LiveId" clId="{8F9ADD0E-7720-49C4-A188-D3271E335A9F}" dt="2026-06-29T08:46:22.800" v="113" actId="1076"/>
          <ac:spMkLst>
            <pc:docMk/>
            <pc:sldMk cId="0" sldId="277"/>
            <ac:spMk id="5" creationId="{00000000-0000-0000-0000-000000000000}"/>
          </ac:spMkLst>
        </pc:spChg>
        <pc:spChg chg="mod">
          <ac:chgData name="Pavlos Horn" userId="801a36894d8a3e24" providerId="LiveId" clId="{8F9ADD0E-7720-49C4-A188-D3271E335A9F}" dt="2026-06-29T08:45:43.272" v="99" actId="20577"/>
          <ac:spMkLst>
            <pc:docMk/>
            <pc:sldMk cId="0" sldId="277"/>
            <ac:spMk id="6" creationId="{00000000-0000-0000-0000-000000000000}"/>
          </ac:spMkLst>
        </pc:spChg>
        <pc:spChg chg="mod">
          <ac:chgData name="Pavlos Horn" userId="801a36894d8a3e24" providerId="LiveId" clId="{8F9ADD0E-7720-49C4-A188-D3271E335A9F}" dt="2026-06-29T08:46:22.800" v="113" actId="1076"/>
          <ac:spMkLst>
            <pc:docMk/>
            <pc:sldMk cId="0" sldId="277"/>
            <ac:spMk id="8" creationId="{00000000-0000-0000-0000-000000000000}"/>
          </ac:spMkLst>
        </pc:spChg>
        <pc:spChg chg="mod">
          <ac:chgData name="Pavlos Horn" userId="801a36894d8a3e24" providerId="LiveId" clId="{8F9ADD0E-7720-49C4-A188-D3271E335A9F}" dt="2026-06-29T08:46:22.800" v="113" actId="1076"/>
          <ac:spMkLst>
            <pc:docMk/>
            <pc:sldMk cId="0" sldId="277"/>
            <ac:spMk id="9" creationId="{00000000-0000-0000-0000-000000000000}"/>
          </ac:spMkLst>
        </pc:spChg>
        <pc:spChg chg="mod">
          <ac:chgData name="Pavlos Horn" userId="801a36894d8a3e24" providerId="LiveId" clId="{8F9ADD0E-7720-49C4-A188-D3271E335A9F}" dt="2026-06-29T08:46:22.800" v="113" actId="1076"/>
          <ac:spMkLst>
            <pc:docMk/>
            <pc:sldMk cId="0" sldId="277"/>
            <ac:spMk id="10" creationId="{00000000-0000-0000-0000-000000000000}"/>
          </ac:spMkLst>
        </pc:spChg>
        <pc:spChg chg="mod">
          <ac:chgData name="Pavlos Horn" userId="801a36894d8a3e24" providerId="LiveId" clId="{8F9ADD0E-7720-49C4-A188-D3271E335A9F}" dt="2026-06-29T08:46:22.800" v="113" actId="1076"/>
          <ac:spMkLst>
            <pc:docMk/>
            <pc:sldMk cId="0" sldId="277"/>
            <ac:spMk id="12" creationId="{00000000-0000-0000-0000-000000000000}"/>
          </ac:spMkLst>
        </pc:spChg>
        <pc:spChg chg="mod">
          <ac:chgData name="Pavlos Horn" userId="801a36894d8a3e24" providerId="LiveId" clId="{8F9ADD0E-7720-49C4-A188-D3271E335A9F}" dt="2026-06-29T08:46:22.800" v="113" actId="1076"/>
          <ac:spMkLst>
            <pc:docMk/>
            <pc:sldMk cId="0" sldId="277"/>
            <ac:spMk id="13" creationId="{00000000-0000-0000-0000-000000000000}"/>
          </ac:spMkLst>
        </pc:spChg>
        <pc:spChg chg="mod">
          <ac:chgData name="Pavlos Horn" userId="801a36894d8a3e24" providerId="LiveId" clId="{8F9ADD0E-7720-49C4-A188-D3271E335A9F}" dt="2026-06-29T08:46:22.800" v="113" actId="1076"/>
          <ac:spMkLst>
            <pc:docMk/>
            <pc:sldMk cId="0" sldId="277"/>
            <ac:spMk id="14" creationId="{00000000-0000-0000-0000-000000000000}"/>
          </ac:spMkLst>
        </pc:spChg>
        <pc:spChg chg="mod">
          <ac:chgData name="Pavlos Horn" userId="801a36894d8a3e24" providerId="LiveId" clId="{8F9ADD0E-7720-49C4-A188-D3271E335A9F}" dt="2026-06-29T08:46:22.800" v="113" actId="1076"/>
          <ac:spMkLst>
            <pc:docMk/>
            <pc:sldMk cId="0" sldId="277"/>
            <ac:spMk id="15" creationId="{00000000-0000-0000-0000-000000000000}"/>
          </ac:spMkLst>
        </pc:spChg>
        <pc:spChg chg="mod">
          <ac:chgData name="Pavlos Horn" userId="801a36894d8a3e24" providerId="LiveId" clId="{8F9ADD0E-7720-49C4-A188-D3271E335A9F}" dt="2026-06-29T08:46:22.800" v="113" actId="1076"/>
          <ac:spMkLst>
            <pc:docMk/>
            <pc:sldMk cId="0" sldId="277"/>
            <ac:spMk id="1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  <a:latin typeface="Calibri"/>
              </a:rPr>
              <a:t>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8288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  <a:latin typeface="Calibri"/>
              </a:rPr>
              <a:t>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30352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E0B44A"/>
                </a:solidFill>
                <a:latin typeface="Calibri"/>
              </a:rPr>
              <a:t>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53949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E0B44A"/>
                </a:solidFill>
                <a:latin typeface="Calibri"/>
              </a:rPr>
              <a:t>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669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mbria"/>
              </a:rPr>
              <a:t>Poker Playing
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BBAA"/>
                </a:solidFill>
                <a:latin typeface="Calibri"/>
              </a:rPr>
              <a:t>Deep Q-Networks &amp; Tabular Q-Learning
for Limit Texas Hold'em &amp; LeDuc Hold'em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166360"/>
            <a:ext cx="5303520" cy="36576"/>
          </a:xfrm>
          <a:prstGeom prst="rect">
            <a:avLst/>
          </a:prstGeom>
          <a:solidFill>
            <a:srgbClr val="E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52852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Pavlos Horn  ·  Giorgos Vogiatzis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" y="5656564"/>
            <a:ext cx="5669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Reinforcement Learning &amp; Dynamic Optimization  —  Final Project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914400"/>
            <a:ext cx="4846320" cy="5029200"/>
          </a:xfrm>
          <a:prstGeom prst="round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086600" y="1051560"/>
            <a:ext cx="4572000" cy="4754880"/>
          </a:xfrm>
          <a:prstGeom prst="round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4630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0" i="0" dirty="0">
                <a:solidFill>
                  <a:srgbClr val="1A1A2E"/>
                </a:solidFill>
                <a:latin typeface="Calibri"/>
              </a:rPr>
              <a:t>🂡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28600" y="1051560"/>
            <a:ext cx="457200" cy="457200"/>
          </a:xfrm>
          <a:prstGeom prst="roundRect">
            <a:avLst/>
          </a:prstGeom>
          <a:solidFill>
            <a:srgbClr val="E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1106424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51560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1837943"/>
            <a:ext cx="457200" cy="457200"/>
          </a:xfrm>
          <a:prstGeom prst="roundRect">
            <a:avLst/>
          </a:prstGeom>
          <a:solidFill>
            <a:srgbClr val="E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" y="1892807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7408" y="1837943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LeDuc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Hold'em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85800" y="2450592"/>
            <a:ext cx="457200" cy="457200"/>
          </a:xfrm>
          <a:prstGeom prst="roundRect">
            <a:avLst/>
          </a:prstGeom>
          <a:solidFill>
            <a:srgbClr val="E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1" y="2505456"/>
            <a:ext cx="5486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i="0" dirty="0">
                <a:solidFill>
                  <a:srgbClr val="1A1A2E"/>
                </a:solidFill>
                <a:latin typeface="Calibri"/>
              </a:rPr>
              <a:t>2.1</a:t>
            </a:r>
            <a:endParaRPr sz="12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44167" y="2455164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State Representation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236976"/>
            <a:ext cx="457200" cy="457200"/>
          </a:xfrm>
          <a:prstGeom prst="roundRect">
            <a:avLst/>
          </a:prstGeom>
          <a:solidFill>
            <a:srgbClr val="E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291840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1A1A2E"/>
                </a:solidFill>
              </a:rPr>
              <a:t>2.2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7" y="3241548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Q-Learning</a:t>
            </a:r>
            <a:r>
              <a:rPr lang="en-US" sz="1300" b="1" i="0" dirty="0">
                <a:solidFill>
                  <a:srgbClr val="FFFFFF"/>
                </a:solidFill>
                <a:latin typeface="Calibri"/>
              </a:rPr>
              <a:t> - The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Concept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023360"/>
            <a:ext cx="457200" cy="457200"/>
          </a:xfrm>
          <a:prstGeom prst="roundRect">
            <a:avLst/>
          </a:prstGeom>
          <a:solidFill>
            <a:srgbClr val="E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4078223"/>
            <a:ext cx="457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1A1A2E"/>
                </a:solidFill>
              </a:rPr>
              <a:t>2.3</a:t>
            </a:r>
          </a:p>
          <a:p>
            <a:pPr algn="ctr"/>
            <a:endParaRPr sz="12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47207" y="4063956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Baseline Opponents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809743"/>
            <a:ext cx="457200" cy="457200"/>
          </a:xfrm>
          <a:prstGeom prst="roundRect">
            <a:avLst/>
          </a:prstGeom>
          <a:solidFill>
            <a:srgbClr val="E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4864607"/>
            <a:ext cx="457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1A1A2E"/>
                </a:solidFill>
              </a:rPr>
              <a:t>2.4</a:t>
            </a:r>
          </a:p>
          <a:p>
            <a:pPr algn="ctr"/>
            <a:endParaRPr sz="12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44167" y="4814315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LeDuc Parameters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596128"/>
            <a:ext cx="457200" cy="457200"/>
          </a:xfrm>
          <a:prstGeom prst="roundRect">
            <a:avLst/>
          </a:prstGeom>
          <a:solidFill>
            <a:srgbClr val="E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6582" y="5650992"/>
            <a:ext cx="415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1A1A2E"/>
                </a:solidFill>
              </a:rPr>
              <a:t>2.5</a:t>
            </a:r>
          </a:p>
          <a:p>
            <a:pPr algn="ctr"/>
            <a:endParaRPr sz="12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344167" y="5600700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LeDuc Results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1051560"/>
            <a:ext cx="457200" cy="457200"/>
          </a:xfrm>
          <a:prstGeom prst="roundRect">
            <a:avLst/>
          </a:prstGeom>
          <a:solidFill>
            <a:srgbClr val="E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63640" y="1106424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i="0" dirty="0">
                <a:solidFill>
                  <a:srgbClr val="1A1A2E"/>
                </a:solidFill>
                <a:latin typeface="Calibri"/>
              </a:rPr>
              <a:t>3</a:t>
            </a:r>
            <a:endParaRPr sz="12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812279" y="1051560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Limit Texas Hold'em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14735" y="2392050"/>
            <a:ext cx="457200" cy="457200"/>
          </a:xfrm>
          <a:prstGeom prst="roundRect">
            <a:avLst/>
          </a:prstGeom>
          <a:solidFill>
            <a:srgbClr val="E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14735" y="2446914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i="0" dirty="0">
                <a:solidFill>
                  <a:srgbClr val="1A1A2E"/>
                </a:solidFill>
                <a:latin typeface="Calibri"/>
              </a:rPr>
              <a:t>3.1</a:t>
            </a:r>
            <a:endParaRPr sz="12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427383" y="2368295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DQN Architecture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14735" y="3178435"/>
            <a:ext cx="457200" cy="457200"/>
          </a:xfrm>
          <a:prstGeom prst="roundRect">
            <a:avLst/>
          </a:prstGeom>
          <a:solidFill>
            <a:srgbClr val="E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14735" y="3233299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1A1A2E"/>
                </a:solidFill>
              </a:rPr>
              <a:t>3.2</a:t>
            </a:r>
            <a:endParaRPr sz="12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427383" y="3154680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DQN Training Process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14735" y="3964819"/>
            <a:ext cx="457200" cy="457200"/>
          </a:xfrm>
          <a:prstGeom prst="roundRect">
            <a:avLst/>
          </a:prstGeom>
          <a:solidFill>
            <a:srgbClr val="E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814735" y="4019683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1A1A2E"/>
                </a:solidFill>
              </a:rPr>
              <a:t>3.3</a:t>
            </a:r>
            <a:endParaRPr sz="12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427383" y="3941064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Texas Baselines &amp; </a:t>
            </a:r>
            <a:r>
              <a:rPr lang="en-US" sz="1300" b="1" i="0" dirty="0">
                <a:solidFill>
                  <a:srgbClr val="FFFFFF"/>
                </a:solidFill>
                <a:latin typeface="Calibri"/>
              </a:rPr>
              <a:t>Parameters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6814735" y="4751203"/>
            <a:ext cx="457200" cy="457200"/>
          </a:xfrm>
          <a:prstGeom prst="roundRect">
            <a:avLst/>
          </a:prstGeom>
          <a:solidFill>
            <a:srgbClr val="E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14735" y="4806066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i="0" dirty="0">
                <a:solidFill>
                  <a:srgbClr val="1A1A2E"/>
                </a:solidFill>
                <a:latin typeface="Calibri"/>
              </a:rPr>
              <a:t>3.4</a:t>
            </a:r>
            <a:endParaRPr sz="12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427383" y="4727448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Texas Hold'em Results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63640" y="5458967"/>
            <a:ext cx="457200" cy="457200"/>
          </a:xfrm>
          <a:prstGeom prst="roundRect">
            <a:avLst/>
          </a:prstGeom>
          <a:solidFill>
            <a:srgbClr val="E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63640" y="5513831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i="0" dirty="0">
                <a:solidFill>
                  <a:srgbClr val="1A1A2E"/>
                </a:solidFill>
                <a:latin typeface="Calibri"/>
              </a:rPr>
              <a:t>4</a:t>
            </a:r>
            <a:endParaRPr sz="12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854063" y="5420266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59" name="Rounded Rectangle 34">
            <a:extLst>
              <a:ext uri="{FF2B5EF4-FFF2-40B4-BE49-F238E27FC236}">
                <a16:creationId xmlns:a16="http://schemas.microsoft.com/office/drawing/2014/main" id="{BA3F4C72-537A-531D-CD51-2242BBA98533}"/>
              </a:ext>
            </a:extLst>
          </p:cNvPr>
          <p:cNvSpPr/>
          <p:nvPr/>
        </p:nvSpPr>
        <p:spPr>
          <a:xfrm>
            <a:off x="6814735" y="1726377"/>
            <a:ext cx="457200" cy="457200"/>
          </a:xfrm>
          <a:prstGeom prst="roundRect">
            <a:avLst/>
          </a:prstGeom>
          <a:solidFill>
            <a:srgbClr val="E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CD99A1C-A3F8-3087-ABAD-A7C27C340671}"/>
              </a:ext>
            </a:extLst>
          </p:cNvPr>
          <p:cNvSpPr txBox="1"/>
          <p:nvPr/>
        </p:nvSpPr>
        <p:spPr>
          <a:xfrm>
            <a:off x="6814735" y="1781241"/>
            <a:ext cx="457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i="0" dirty="0">
                <a:solidFill>
                  <a:srgbClr val="1A1A2E"/>
                </a:solidFill>
                <a:latin typeface="Calibri"/>
              </a:rPr>
              <a:t>3</a:t>
            </a:r>
            <a:endParaRPr sz="12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EAC8E4E-1ACD-9079-02CD-0D829F5C89F2}"/>
              </a:ext>
            </a:extLst>
          </p:cNvPr>
          <p:cNvSpPr txBox="1"/>
          <p:nvPr/>
        </p:nvSpPr>
        <p:spPr>
          <a:xfrm>
            <a:off x="7363374" y="1726377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Limit Texas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Hold’em</a:t>
            </a:r>
            <a:r>
              <a:rPr lang="en-US" sz="1300" b="1" i="0" dirty="0">
                <a:solidFill>
                  <a:srgbClr val="FFFFFF"/>
                </a:solidFill>
                <a:latin typeface="Calibri"/>
              </a:rPr>
              <a:t> – Choice of RL Method 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Project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3703320" cy="5303520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1143000"/>
            <a:ext cx="3703320" cy="502920"/>
          </a:xfrm>
          <a:prstGeom prst="roundRect">
            <a:avLst/>
          </a:prstGeom>
          <a:solidFill>
            <a:srgbClr val="E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280160"/>
            <a:ext cx="3703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1A2E"/>
                </a:solidFill>
                <a:latin typeface="Calibri"/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33172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A2E"/>
                </a:solidFill>
                <a:latin typeface="Calibri"/>
              </a:rPr>
              <a:t>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333756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Blip>
                <a:blip r:embed="rId2"/>
              </a:buBlip>
            </a:pPr>
            <a:r>
              <a:rPr sz="1900" b="0" i="0" dirty="0">
                <a:solidFill>
                  <a:srgbClr val="1A1A2E"/>
                </a:solidFill>
                <a:latin typeface="Calibri"/>
              </a:rPr>
              <a:t>Train RL agents to play poker competitively against fixed baseline strategies and other student agents in a showdown tournament.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143000"/>
            <a:ext cx="3703320" cy="5303520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06240" y="1143000"/>
            <a:ext cx="3703320" cy="50292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6240" y="1280160"/>
            <a:ext cx="3703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1A2E"/>
                </a:solidFill>
                <a:latin typeface="Calibri"/>
              </a:rPr>
              <a:t>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33172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A2E"/>
                </a:solidFill>
                <a:latin typeface="Calibri"/>
              </a:rPr>
              <a:t>Two Games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834640"/>
            <a:ext cx="33375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Blip>
                <a:blip r:embed="rId2"/>
              </a:buBlip>
            </a:pPr>
            <a:r>
              <a:rPr sz="2000" b="0" i="0" dirty="0">
                <a:solidFill>
                  <a:srgbClr val="1A1A2E"/>
                </a:solidFill>
                <a:latin typeface="Calibri"/>
              </a:rPr>
              <a:t>LeDuc </a:t>
            </a:r>
            <a:r>
              <a:rPr sz="2000" b="0" i="0" dirty="0" err="1">
                <a:solidFill>
                  <a:srgbClr val="1A1A2E"/>
                </a:solidFill>
                <a:latin typeface="Calibri"/>
              </a:rPr>
              <a:t>Hold'em</a:t>
            </a:r>
            <a:r>
              <a:rPr sz="2000" b="0" i="0" dirty="0">
                <a:solidFill>
                  <a:srgbClr val="1A1A2E"/>
                </a:solidFill>
                <a:latin typeface="Calibri"/>
              </a:rPr>
              <a:t> 
Limit Texas </a:t>
            </a:r>
            <a:r>
              <a:rPr sz="2000" b="0" i="0" dirty="0" err="1">
                <a:solidFill>
                  <a:srgbClr val="1A1A2E"/>
                </a:solidFill>
                <a:latin typeface="Calibri"/>
              </a:rPr>
              <a:t>Hold'em</a:t>
            </a:r>
            <a:endParaRPr sz="2000" b="0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138160" y="1143000"/>
            <a:ext cx="3703320" cy="5303520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38160" y="1143000"/>
            <a:ext cx="3703320" cy="502920"/>
          </a:xfrm>
          <a:prstGeom prst="roundRect">
            <a:avLst/>
          </a:prstGeom>
          <a:solidFill>
            <a:srgbClr val="E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0" y="1280160"/>
            <a:ext cx="3703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1A2E"/>
                </a:solidFill>
                <a:latin typeface="Calibri"/>
              </a:rPr>
              <a:t>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33172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A2E"/>
                </a:solidFill>
                <a:latin typeface="Calibri"/>
              </a:rPr>
              <a:t>Competition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834640"/>
            <a:ext cx="33375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Blip>
                <a:blip r:embed="rId2"/>
              </a:buBlip>
            </a:pPr>
            <a:r>
              <a:rPr sz="2000" dirty="0">
                <a:solidFill>
                  <a:srgbClr val="1A1A2E"/>
                </a:solidFill>
                <a:latin typeface="Calibri"/>
              </a:rPr>
              <a:t>Final agents submitted to a round-robin showdown vs all other groups.
Our agents: Horn-y Bot (LeDuc)  &amp;  Horn-y DQN (Texas </a:t>
            </a:r>
            <a:r>
              <a:rPr sz="2000" dirty="0" err="1">
                <a:solidFill>
                  <a:srgbClr val="1A1A2E"/>
                </a:solidFill>
                <a:latin typeface="Calibri"/>
              </a:rPr>
              <a:t>Hold'em</a:t>
            </a:r>
            <a:r>
              <a:rPr sz="2000" dirty="0">
                <a:solidFill>
                  <a:srgbClr val="1A1A2E"/>
                </a:solidFill>
                <a:latin typeface="Calibri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8599"/>
                </a:solidFill>
                <a:latin typeface="Calibri"/>
              </a:rPr>
              <a:t>LeDuc environment built from scratch  ·  Texas Hold'em uses RLCard's limit-holdem environment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/>
      <p:bldP spid="11" grpId="0" animBg="1"/>
      <p:bldP spid="12" grpId="0" animBg="1"/>
      <p:bldP spid="13" grpId="0"/>
      <p:bldP spid="14" grpId="0"/>
      <p:bldP spid="15" grpId="0"/>
      <p:bldP spid="16" grpId="0" animBg="1"/>
      <p:bldP spid="17" grpId="0" animBg="1"/>
      <p:bldP spid="18" grpId="0"/>
      <p:bldP spid="19" grpId="0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  <a:latin typeface="Cambria"/>
              </a:rPr>
              <a:t>LeDuc </a:t>
            </a:r>
            <a:r>
              <a:rPr sz="3400" b="1" i="0" dirty="0" err="1">
                <a:solidFill>
                  <a:srgbClr val="FFFFFF"/>
                </a:solidFill>
                <a:latin typeface="Cambria"/>
              </a:rPr>
              <a:t>Hold'em</a:t>
            </a:r>
            <a:endParaRPr sz="34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910840" y="1197864"/>
            <a:ext cx="6720840" cy="3724656"/>
          </a:xfrm>
          <a:prstGeom prst="roundRect">
            <a:avLst/>
          </a:prstGeom>
          <a:solidFill>
            <a:srgbClr val="2D6A4F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34092" y="1289304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00"/>
                </a:solidFill>
                <a:latin typeface="Calibri"/>
              </a:rPr>
              <a:t>Game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4092" y="1719072"/>
            <a:ext cx="51206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har char="✓"/>
            </a:pPr>
            <a:r>
              <a:rPr sz="1600" dirty="0">
                <a:solidFill>
                  <a:srgbClr val="FFFF00"/>
                </a:solidFill>
                <a:latin typeface="Calibri"/>
              </a:rPr>
              <a:t>Deck: {J, Q, K}  ×2  =  6 cards total</a:t>
            </a:r>
          </a:p>
          <a:p>
            <a:pPr marL="342900" indent="-342900">
              <a:buChar char="✓"/>
            </a:pPr>
            <a:r>
              <a:rPr sz="1600" dirty="0">
                <a:solidFill>
                  <a:srgbClr val="FFFF00"/>
                </a:solidFill>
                <a:latin typeface="Calibri"/>
              </a:rPr>
              <a:t>Each player is dealt 1 private card face-down</a:t>
            </a:r>
          </a:p>
          <a:p>
            <a:pPr marL="342900" indent="-342900">
              <a:buChar char="✓"/>
            </a:pPr>
            <a:r>
              <a:rPr sz="1600" dirty="0">
                <a:solidFill>
                  <a:srgbClr val="FFFF00"/>
                </a:solidFill>
                <a:latin typeface="Calibri"/>
              </a:rPr>
              <a:t>Round 1 (Pre-flop): bet with hidden cards only</a:t>
            </a:r>
          </a:p>
          <a:p>
            <a:pPr marL="342900" indent="-342900">
              <a:buChar char="✓"/>
            </a:pPr>
            <a:r>
              <a:rPr sz="1600" dirty="0">
                <a:solidFill>
                  <a:srgbClr val="FFFF00"/>
                </a:solidFill>
                <a:latin typeface="Calibri"/>
              </a:rPr>
              <a:t>Round 2 (Post-flop): 1 community card revealed, bet again</a:t>
            </a:r>
          </a:p>
          <a:p>
            <a:pPr marL="342900" indent="-342900">
              <a:buChar char="✓"/>
            </a:pPr>
            <a:r>
              <a:rPr sz="1600" dirty="0">
                <a:solidFill>
                  <a:srgbClr val="FFFF00"/>
                </a:solidFill>
                <a:latin typeface="Calibri"/>
              </a:rPr>
              <a:t>Fixed raise amounts: +2 chips pre-flop / +4 post-flop</a:t>
            </a:r>
          </a:p>
          <a:p>
            <a:pPr marL="342900" indent="-342900">
              <a:buChar char="✓"/>
            </a:pPr>
            <a:r>
              <a:rPr sz="1600" dirty="0">
                <a:solidFill>
                  <a:srgbClr val="FFFF00"/>
                </a:solidFill>
                <a:latin typeface="Calibri"/>
              </a:rPr>
              <a:t>Win: best hand at showdown, or opponent folds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228600" y="164592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LeDuc Hold'em — Environment</a:t>
            </a:r>
          </a:p>
        </p:txBody>
      </p:sp>
      <p:sp>
        <p:nvSpPr>
          <p:cNvPr id="4" name="LeftCard"/>
          <p:cNvSpPr/>
          <p:nvPr/>
        </p:nvSpPr>
        <p:spPr>
          <a:xfrm>
            <a:off x="1523012" y="1060000"/>
            <a:ext cx="4343000" cy="5400000"/>
          </a:xfrm>
          <a:prstGeom prst="roundRect">
            <a:avLst/>
          </a:prstGeom>
          <a:solidFill>
            <a:srgbClr val="2D6A4F"/>
          </a:solidFill>
          <a:ln w="6350">
            <a:solidFill>
              <a:srgbClr val="CCD5CC"/>
            </a:solidFill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LeftHeader"/>
          <p:cNvSpPr txBox="1"/>
          <p:nvPr/>
        </p:nvSpPr>
        <p:spPr>
          <a:xfrm>
            <a:off x="1674412" y="1120000"/>
            <a:ext cx="404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⚙ Class Structure</a:t>
            </a:r>
          </a:p>
        </p:txBody>
      </p:sp>
      <p:sp>
        <p:nvSpPr>
          <p:cNvPr id="6" name="LeftBody"/>
          <p:cNvSpPr txBox="1"/>
          <p:nvPr/>
        </p:nvSpPr>
        <p:spPr>
          <a:xfrm>
            <a:off x="1674412" y="1490000"/>
            <a:ext cx="4040000" cy="4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▶"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SimpleLeDucPoker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main class</a:t>
            </a:r>
          </a:p>
          <a:p>
            <a:pPr marL="228600" marR="0" lvl="0" indent="-22860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▶"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reset()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shuffles deck, deals cards, clears state</a:t>
            </a:r>
          </a:p>
          <a:p>
            <a:pPr marL="228600" marR="0" lvl="0" indent="-22860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▶"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step(action, ...)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advances game, returns (reward, done)</a:t>
            </a:r>
          </a:p>
          <a:p>
            <a:pPr marL="228600" marR="0" lvl="0" indent="-22860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▶"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apply_action()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executes check / call / raise / fold</a:t>
            </a:r>
          </a:p>
          <a:p>
            <a:pPr marL="228600" marR="0" lvl="0" indent="-22860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▶"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get_legal_actions()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context-aware action mask</a:t>
            </a:r>
          </a:p>
          <a:p>
            <a:pPr marL="228600" marR="0" lvl="0" indent="-22860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▶"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evaluate_winner()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pair beats high card; K &gt; Q &gt; J</a:t>
            </a:r>
          </a:p>
        </p:txBody>
      </p:sp>
      <p:sp>
        <p:nvSpPr>
          <p:cNvPr id="7" name="RightCard"/>
          <p:cNvSpPr/>
          <p:nvPr/>
        </p:nvSpPr>
        <p:spPr>
          <a:xfrm>
            <a:off x="6094412" y="1060000"/>
            <a:ext cx="4572000" cy="54000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D6A4F"/>
            </a:solidFill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ightHeader"/>
          <p:cNvSpPr txBox="1"/>
          <p:nvPr/>
        </p:nvSpPr>
        <p:spPr>
          <a:xfrm>
            <a:off x="6244412" y="1120000"/>
            <a:ext cx="427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🎯 Key Design Choices</a:t>
            </a:r>
          </a:p>
        </p:txBody>
      </p:sp>
      <p:sp>
        <p:nvSpPr>
          <p:cNvPr id="9" name="RightBody"/>
          <p:cNvSpPr txBox="1"/>
          <p:nvPr/>
        </p:nvSpPr>
        <p:spPr>
          <a:xfrm>
            <a:off x="6244412" y="1490000"/>
            <a:ext cx="4270000" cy="4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52B7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Built from scratch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no external library</a:t>
            </a: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52B7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2-round structure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pre-flop → post-flop, separate bet limits</a:t>
            </a: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52B7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Action mask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only legal moves per game state</a:t>
            </a: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52B7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Small/Big blind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1/2 chip forced bets at start</a:t>
            </a: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52B7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Reward signal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terminal only (chips won/lost at hand end)</a:t>
            </a: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52B7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Raise amounts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+2 pre-flop, +4 post-flop (fixed)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LeDuc – State Representation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5381" y="923545"/>
            <a:ext cx="6966168" cy="4416550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47587" y="1215761"/>
            <a:ext cx="65017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Calibri"/>
              </a:rPr>
              <a:t>State Components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13989" y="1683757"/>
            <a:ext cx="6559808" cy="710710"/>
          </a:xfrm>
          <a:prstGeom prst="roundRect">
            <a:avLst/>
          </a:prstGeom>
          <a:solidFill>
            <a:srgbClr val="EE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5726" y="1812668"/>
            <a:ext cx="255426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Private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1722" y="1786296"/>
            <a:ext cx="1044926" cy="487344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21722" y="1796078"/>
            <a:ext cx="10449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8146" y="1823509"/>
            <a:ext cx="2438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8599"/>
                </a:solidFill>
                <a:latin typeface="Calibri"/>
              </a:rPr>
              <a:t>{J, Q, K}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3989" y="2433564"/>
            <a:ext cx="6559808" cy="710710"/>
          </a:xfrm>
          <a:prstGeom prst="roundRect">
            <a:avLst/>
          </a:prstGeom>
          <a:solidFill>
            <a:srgbClr val="EE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5726" y="2562476"/>
            <a:ext cx="255426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Public card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1722" y="2536104"/>
            <a:ext cx="1044926" cy="487344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21722" y="2545886"/>
            <a:ext cx="10449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8146" y="2573317"/>
            <a:ext cx="2438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8599"/>
                </a:solidFill>
                <a:latin typeface="Calibri"/>
              </a:rPr>
              <a:t>{J, Q, K, None}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13989" y="3183372"/>
            <a:ext cx="6559808" cy="710710"/>
          </a:xfrm>
          <a:prstGeom prst="roundRect">
            <a:avLst/>
          </a:prstGeom>
          <a:solidFill>
            <a:srgbClr val="EE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85726" y="3312283"/>
            <a:ext cx="255426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Action history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1722" y="3285911"/>
            <a:ext cx="1044926" cy="487344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21722" y="3295693"/>
            <a:ext cx="10449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 values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8146" y="3323125"/>
            <a:ext cx="2438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8599"/>
                </a:solidFill>
                <a:latin typeface="Calibri"/>
              </a:rPr>
              <a:t>what has happened so far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13989" y="3933181"/>
            <a:ext cx="6559808" cy="710710"/>
          </a:xfrm>
          <a:prstGeom prst="roundRect">
            <a:avLst/>
          </a:prstGeom>
          <a:solidFill>
            <a:srgbClr val="EE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85726" y="4062092"/>
            <a:ext cx="255426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Who plays first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1722" y="4035719"/>
            <a:ext cx="1044926" cy="487344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21722" y="4045501"/>
            <a:ext cx="10449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 values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8146" y="4072934"/>
            <a:ext cx="2438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8599"/>
                </a:solidFill>
                <a:latin typeface="Calibri"/>
              </a:rPr>
              <a:t>Big-blind / Small-blind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15381" y="5123478"/>
            <a:ext cx="6966168" cy="863004"/>
          </a:xfrm>
          <a:prstGeom prst="roundRect">
            <a:avLst/>
          </a:prstGeom>
          <a:solidFill>
            <a:srgbClr val="0F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47587" y="5223380"/>
            <a:ext cx="65017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E0B44A"/>
                </a:solidFill>
                <a:latin typeface="Calibri"/>
              </a:rPr>
              <a:t>3 × 4 × 6 × 2 = 144 states  ×  4 actions  =  576 Q-table entries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  <a:latin typeface="Cambria"/>
              </a:rPr>
              <a:t>Q-Learning </a:t>
            </a:r>
            <a:r>
              <a:rPr lang="el-GR" sz="3400" b="1" i="0" dirty="0">
                <a:solidFill>
                  <a:srgbClr val="FFFFFF"/>
                </a:solidFill>
                <a:latin typeface="Cambria"/>
              </a:rPr>
              <a:t>—</a:t>
            </a:r>
            <a:r>
              <a:rPr lang="en-US" sz="3400" b="1" i="0" dirty="0">
                <a:solidFill>
                  <a:srgbClr val="FFFFFF"/>
                </a:solidFill>
                <a:latin typeface="Cambria"/>
              </a:rPr>
              <a:t> The </a:t>
            </a:r>
            <a:r>
              <a:rPr sz="3400" b="1" i="0" dirty="0">
                <a:solidFill>
                  <a:srgbClr val="FFFFFF"/>
                </a:solidFill>
                <a:latin typeface="Cambria"/>
              </a:rPr>
              <a:t>Concept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097280"/>
            <a:ext cx="11731752" cy="749808"/>
          </a:xfrm>
          <a:prstGeom prst="roundRect">
            <a:avLst/>
          </a:prstGeom>
          <a:solidFill>
            <a:srgbClr val="0F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5CF7E"/>
                </a:solidFill>
                <a:latin typeface="Calibri"/>
              </a:rPr>
              <a:t>Core idea:  Q(s, a)  =  expected total reward of taking action a in state s, then acting optimally.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993392"/>
            <a:ext cx="3794760" cy="4434840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28600" y="1993392"/>
            <a:ext cx="3794760" cy="475488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029968"/>
            <a:ext cx="3520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Q-Table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78608"/>
            <a:ext cx="35204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Clr>
                <a:srgbClr val="2D6A4F"/>
              </a:buClr>
              <a:buFont typeface="Wingdings" panose="05000000000000000000" pitchFamily="2" charset="2"/>
              <a:buChar char="v"/>
            </a:pPr>
            <a:r>
              <a:rPr sz="1200" b="0" i="0" dirty="0">
                <a:solidFill>
                  <a:srgbClr val="1A1A2E"/>
                </a:solidFill>
                <a:latin typeface="Calibri"/>
              </a:rPr>
              <a:t>A lookup table with one row per state, one column per action.
Each cell Q(</a:t>
            </a:r>
            <a:r>
              <a:rPr sz="1200" b="0" i="0" dirty="0" err="1">
                <a:solidFill>
                  <a:srgbClr val="1A1A2E"/>
                </a:solidFill>
                <a:latin typeface="Calibri"/>
              </a:rPr>
              <a:t>s,a</a:t>
            </a:r>
            <a:r>
              <a:rPr sz="1200" b="0" i="0" dirty="0">
                <a:solidFill>
                  <a:srgbClr val="1A1A2E"/>
                </a:solidFill>
                <a:latin typeface="Calibri"/>
              </a:rPr>
              <a:t>) is our estimate of that state-action's value.
Initially random — the agent has no idea what is good yet.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15384" y="1993392"/>
            <a:ext cx="3794760" cy="4434840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15384" y="1993392"/>
            <a:ext cx="3794760" cy="475488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52544" y="2029968"/>
            <a:ext cx="3520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ε-Greedy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2544" y="2578608"/>
            <a:ext cx="35204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Clr>
                <a:srgbClr val="2D6A4F"/>
              </a:buClr>
              <a:buFont typeface="Wingdings" panose="05000000000000000000" pitchFamily="2" charset="2"/>
              <a:buChar char="v"/>
            </a:pPr>
            <a:r>
              <a:rPr sz="1200" b="0" i="0" dirty="0">
                <a:solidFill>
                  <a:srgbClr val="1A1A2E"/>
                </a:solidFill>
                <a:latin typeface="Calibri"/>
              </a:rPr>
              <a:t>At each decision the agent either:
  Explore (prob ε): pick random legal action
  Exploit (prob 1−ε): pick highest Q-value action
ε starts at 1.0 (fully random) and decays to 0.01 (nearly greedy).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02168" y="1993392"/>
            <a:ext cx="3794760" cy="4434840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02168" y="1993392"/>
            <a:ext cx="3794760" cy="475488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8" y="2029968"/>
            <a:ext cx="3520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Bellman 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578608"/>
            <a:ext cx="35204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Clr>
                <a:srgbClr val="2D6A4F"/>
              </a:buClr>
              <a:buFont typeface="Wingdings" panose="05000000000000000000" pitchFamily="2" charset="2"/>
              <a:buChar char="v"/>
            </a:pPr>
            <a:r>
              <a:rPr sz="1200" b="0" i="0" dirty="0">
                <a:solidFill>
                  <a:srgbClr val="1A1A2E"/>
                </a:solidFill>
                <a:latin typeface="Calibri"/>
              </a:rPr>
              <a:t>After each action the agent receives reward r and updates:</a:t>
            </a:r>
            <a:endParaRPr lang="en-US" sz="1200" dirty="0">
              <a:solidFill>
                <a:srgbClr val="1A1A2E"/>
              </a:solidFill>
              <a:latin typeface="Calibri"/>
            </a:endParaRPr>
          </a:p>
          <a:p>
            <a:pPr algn="l">
              <a:buClr>
                <a:srgbClr val="2D6A4F"/>
              </a:buClr>
            </a:pPr>
            <a:r>
              <a:rPr lang="en-US" sz="1200" b="0" i="0" dirty="0">
                <a:solidFill>
                  <a:srgbClr val="1A1A2E"/>
                </a:solidFill>
                <a:latin typeface="Calibri"/>
              </a:rPr>
              <a:t>	</a:t>
            </a:r>
            <a:r>
              <a:rPr sz="1200" b="0" i="0" dirty="0">
                <a:solidFill>
                  <a:srgbClr val="1A1A2E"/>
                </a:solidFill>
                <a:latin typeface="Calibri"/>
              </a:rPr>
              <a:t>Q(</a:t>
            </a:r>
            <a:r>
              <a:rPr sz="1200" b="0" i="0" dirty="0" err="1">
                <a:solidFill>
                  <a:srgbClr val="1A1A2E"/>
                </a:solidFill>
                <a:latin typeface="Calibri"/>
              </a:rPr>
              <a:t>s,a</a:t>
            </a:r>
            <a:r>
              <a:rPr sz="1200" b="0" i="0" dirty="0">
                <a:solidFill>
                  <a:srgbClr val="1A1A2E"/>
                </a:solidFill>
                <a:latin typeface="Calibri"/>
              </a:rPr>
              <a:t>) ← (1−α)·Q(</a:t>
            </a:r>
            <a:r>
              <a:rPr sz="1200" b="0" i="0" dirty="0" err="1">
                <a:solidFill>
                  <a:srgbClr val="1A1A2E"/>
                </a:solidFill>
                <a:latin typeface="Calibri"/>
              </a:rPr>
              <a:t>s,a</a:t>
            </a:r>
            <a:r>
              <a:rPr sz="1200" b="0" i="0" dirty="0">
                <a:solidFill>
                  <a:srgbClr val="1A1A2E"/>
                </a:solidFill>
                <a:latin typeface="Calibri"/>
              </a:rPr>
              <a:t>) + α·[r + </a:t>
            </a:r>
            <a:r>
              <a:rPr sz="1200" b="0" i="0" dirty="0" err="1">
                <a:solidFill>
                  <a:srgbClr val="1A1A2E"/>
                </a:solidFill>
                <a:latin typeface="Calibri"/>
              </a:rPr>
              <a:t>γ·max</a:t>
            </a:r>
            <a:r>
              <a:rPr sz="1200" b="0" i="0" dirty="0">
                <a:solidFill>
                  <a:srgbClr val="1A1A2E"/>
                </a:solidFill>
                <a:latin typeface="Calibri"/>
              </a:rPr>
              <a:t> Q(</a:t>
            </a:r>
            <a:r>
              <a:rPr sz="1200" b="0" i="0" dirty="0" err="1">
                <a:solidFill>
                  <a:srgbClr val="1A1A2E"/>
                </a:solidFill>
                <a:latin typeface="Calibri"/>
              </a:rPr>
              <a:t>s',a</a:t>
            </a:r>
            <a:r>
              <a:rPr sz="1200" b="0" i="0" dirty="0">
                <a:solidFill>
                  <a:srgbClr val="1A1A2E"/>
                </a:solidFill>
                <a:latin typeface="Calibri"/>
              </a:rPr>
              <a:t>’)]</a:t>
            </a:r>
            <a:endParaRPr lang="en-US" sz="1200" dirty="0">
              <a:solidFill>
                <a:srgbClr val="1A1A2E"/>
              </a:solidFill>
              <a:latin typeface="Calibri"/>
            </a:endParaRPr>
          </a:p>
          <a:p>
            <a:pPr algn="l">
              <a:buClr>
                <a:srgbClr val="2D6A4F"/>
              </a:buClr>
            </a:pPr>
            <a:r>
              <a:rPr lang="en-US" sz="1200" b="0" i="0" dirty="0">
                <a:solidFill>
                  <a:srgbClr val="1A1A2E"/>
                </a:solidFill>
                <a:latin typeface="Calibri"/>
              </a:rPr>
              <a:t>,</a:t>
            </a:r>
            <a:r>
              <a:rPr sz="1200" b="0" i="0" dirty="0">
                <a:solidFill>
                  <a:srgbClr val="1A1A2E"/>
                </a:solidFill>
                <a:latin typeface="Calibri"/>
              </a:rPr>
              <a:t>α = learning rate  ·  γ = discount factor</a:t>
            </a:r>
            <a:endParaRPr lang="en-US" sz="1200" b="0" i="0" dirty="0">
              <a:solidFill>
                <a:srgbClr val="1A1A2E"/>
              </a:solidFill>
              <a:latin typeface="Calibri"/>
            </a:endParaRPr>
          </a:p>
          <a:p>
            <a:pPr marL="171450" indent="-171450" algn="l">
              <a:buClr>
                <a:srgbClr val="2D6A4F"/>
              </a:buClr>
              <a:buFont typeface="Wingdings" panose="05000000000000000000" pitchFamily="2" charset="2"/>
              <a:buChar char="v"/>
            </a:pPr>
            <a:r>
              <a:rPr sz="1200" b="0" i="0" dirty="0">
                <a:solidFill>
                  <a:srgbClr val="1A1A2E"/>
                </a:solidFill>
                <a:latin typeface="Calibri"/>
              </a:rPr>
              <a:t>Over many games, Q-values converge to true optimal values.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" y="6510528"/>
            <a:ext cx="11731752" cy="256032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8600" y="6528816"/>
            <a:ext cx="11731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Loop:  Observe s  →  Pick a (ε-greedy)  →  Get r  →  Observe s'  →  Update Q(s,a)  →  Repeat</a:t>
            </a:r>
          </a:p>
        </p:txBody>
      </p:sp>
    </p:spTree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Baseline Opponents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143000"/>
            <a:ext cx="5669280" cy="1691640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256032" cy="1691640"/>
          </a:xfrm>
          <a:prstGeom prst="rect">
            <a:avLst/>
          </a:prstGeom>
          <a:solidFill>
            <a:srgbClr val="7A8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7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Random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7" y="1764792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Uniform random action — the lower-bound baseline. No strategy at 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3017520"/>
            <a:ext cx="5669280" cy="1691640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3017520"/>
            <a:ext cx="256032" cy="1691640"/>
          </a:xfrm>
          <a:prstGeom prst="rect">
            <a:avLst/>
          </a:prstGeom>
          <a:solidFill>
            <a:srgbClr val="5B8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7" y="32004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Limping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" y="3639312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Mostly passive: checks/calls. Raises ~40% with K, 2% randomly. Rarely folds.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" y="4892040"/>
            <a:ext cx="5669280" cy="1691640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8600" y="4892040"/>
            <a:ext cx="256032" cy="169164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7" y="5074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Tight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" y="5513831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Card-aware: folds J, checks Q, raises K ~60%. Bluffs only 3%. Conservative.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143000"/>
            <a:ext cx="5669280" cy="1691640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1143000"/>
            <a:ext cx="256032" cy="1691640"/>
          </a:xfrm>
          <a:prstGeom prst="rect">
            <a:avLst/>
          </a:prstGeom>
          <a:solidFill>
            <a:srgbClr val="E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47688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Aggressive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1764792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Raises ~65% regardless of hand. Calls otherwise. Barely folds. Constant pressure.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017520"/>
            <a:ext cx="5669280" cy="1691640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3017520"/>
            <a:ext cx="256032" cy="1691640"/>
          </a:xfrm>
          <a:prstGeom prst="rect">
            <a:avLst/>
          </a:prstGeom>
          <a:solidFill>
            <a:srgbClr val="E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47688" y="32004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Honest-strength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3639312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Mirrors hand strength: J checks/bluffs 5%, Q calls, K raises ~50%. Honest betting.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892040"/>
            <a:ext cx="5669280" cy="1691640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4892040"/>
            <a:ext cx="256032" cy="16916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47688" y="5074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Pal-Bot  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7688" y="5513831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Custom bot (modelled on Mitsos). Pre-flop: raises first OR with K. Post-flop: raises any pair, aggressive with JJ.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LeDuc – Parameters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097280"/>
            <a:ext cx="2743200" cy="1097280"/>
          </a:xfrm>
          <a:prstGeom prst="roundRect">
            <a:avLst/>
          </a:prstGeom>
          <a:solidFill>
            <a:srgbClr val="0F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28600" y="1097280"/>
            <a:ext cx="2743200" cy="292608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14447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γ = 0.99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9019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599"/>
                </a:solidFill>
                <a:latin typeface="Calibri"/>
              </a:rPr>
              <a:t>Discount factor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8688" y="1097280"/>
            <a:ext cx="2743200" cy="1097280"/>
          </a:xfrm>
          <a:prstGeom prst="roundRect">
            <a:avLst/>
          </a:prstGeom>
          <a:solidFill>
            <a:srgbClr val="0F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18688" y="1097280"/>
            <a:ext cx="2743200" cy="292608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18688" y="14447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α decays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8688" y="19019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599"/>
                </a:solidFill>
                <a:latin typeface="Calibri"/>
              </a:rPr>
              <a:t>Learning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097280"/>
            <a:ext cx="2743200" cy="1097280"/>
          </a:xfrm>
          <a:prstGeom prst="roundRect">
            <a:avLst/>
          </a:prstGeom>
          <a:solidFill>
            <a:srgbClr val="0F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08776" y="1097280"/>
            <a:ext cx="2743200" cy="292608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08776" y="14447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ε decays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19019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599"/>
                </a:solidFill>
                <a:latin typeface="Calibri"/>
              </a:rPr>
              <a:t>Exploration 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98864" y="1097280"/>
            <a:ext cx="2743200" cy="1097280"/>
          </a:xfrm>
          <a:prstGeom prst="roundRect">
            <a:avLst/>
          </a:prstGeom>
          <a:solidFill>
            <a:srgbClr val="0F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98864" y="1097280"/>
            <a:ext cx="2743200" cy="292608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98864" y="14447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500,000 ep.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4" y="19019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599"/>
                </a:solidFill>
                <a:latin typeface="Calibri"/>
              </a:rPr>
              <a:t>Training episodes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" y="2450592"/>
            <a:ext cx="2743200" cy="4160520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8328" y="25146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γ = 0.99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2944368"/>
            <a:ext cx="2523744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Clr>
                <a:srgbClr val="2D6A4F"/>
              </a:buClr>
              <a:buFont typeface="Wingdings" panose="05000000000000000000" pitchFamily="2" charset="2"/>
              <a:buChar char="v"/>
            </a:pPr>
            <a:r>
              <a:rPr sz="1100" b="0" i="0" dirty="0">
                <a:solidFill>
                  <a:srgbClr val="1A1A2E"/>
                </a:solidFill>
                <a:latin typeface="Calibri"/>
              </a:rPr>
              <a:t>High foresight — the agent values future rewards almost as much as immediate ones. Essential in poker where the payoff only comes at hand end.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18688" y="2450592"/>
            <a:ext cx="2743200" cy="4160520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28416" y="25146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α decays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28416" y="2944368"/>
            <a:ext cx="252374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Clr>
                <a:srgbClr val="2D6A4F"/>
              </a:buClr>
              <a:buFont typeface="Wingdings" panose="05000000000000000000" pitchFamily="2" charset="2"/>
              <a:buChar char="v"/>
            </a:pPr>
            <a:r>
              <a:rPr sz="1100" b="0" i="0" dirty="0">
                <a:solidFill>
                  <a:srgbClr val="1A1A2E"/>
                </a:solidFill>
                <a:latin typeface="Calibri"/>
              </a:rPr>
              <a:t>α = max(0.01,  20 / (20 + N(</a:t>
            </a:r>
            <a:r>
              <a:rPr sz="1100" b="0" i="0" dirty="0" err="1">
                <a:solidFill>
                  <a:srgbClr val="1A1A2E"/>
                </a:solidFill>
                <a:latin typeface="Calibri"/>
              </a:rPr>
              <a:t>s,a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)))
The more often a state-action pair is visited, the smaller α becomes — locking in well-tested Q-values and preventing overwriting good knowledge.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2450592"/>
            <a:ext cx="2743200" cy="4160520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18504" y="25146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ε decays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2944368"/>
            <a:ext cx="2523744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Clr>
                <a:srgbClr val="2D6A4F"/>
              </a:buClr>
              <a:buFont typeface="Wingdings" panose="05000000000000000000" pitchFamily="2" charset="2"/>
              <a:buChar char="v"/>
            </a:pPr>
            <a:r>
              <a:rPr sz="1100" b="0" i="0" dirty="0">
                <a:solidFill>
                  <a:srgbClr val="1A1A2E"/>
                </a:solidFill>
                <a:latin typeface="Calibri"/>
              </a:rPr>
              <a:t>ε(t) = max(0.01,  0.99999ᵗ)
Starts fully random (exploration). Decays to ~1% over 500k episodes (near-greedy exploitation). Agent gradually trusts what it has learned.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98864" y="2450592"/>
            <a:ext cx="2743200" cy="4160520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08592" y="251460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500k episodes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2944368"/>
            <a:ext cx="2523744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Clr>
                <a:srgbClr val="2D6A4F"/>
              </a:buClr>
              <a:buFont typeface="Wingdings" panose="05000000000000000000" pitchFamily="2" charset="2"/>
              <a:buChar char="v"/>
            </a:pPr>
            <a:r>
              <a:rPr sz="1100" b="0" i="0" dirty="0">
                <a:solidFill>
                  <a:srgbClr val="1A1A2E"/>
                </a:solidFill>
                <a:latin typeface="Calibri"/>
              </a:rPr>
              <a:t>Fixed training budget. Each episode is one complete poker hand.
500,000 games is sufficient for the Q-table to converge to stable values across all 576 state-action pairs.</a:t>
            </a:r>
          </a:p>
        </p:txBody>
      </p:sp>
    </p:spTree>
  </p:cSld>
  <p:clrMapOvr>
    <a:masterClrMapping/>
  </p:clrMapOvr>
  <p:transition spd="med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  <a:latin typeface="Cambria"/>
              </a:rPr>
              <a:t>LeDuc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90373" y="1307592"/>
            <a:ext cx="1740103" cy="38404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9235" y="1353312"/>
            <a:ext cx="168981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Agent \ Opponent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449094" y="1307592"/>
            <a:ext cx="1056132" cy="38404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87956" y="1353312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Pal-Bot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4934" y="1307592"/>
            <a:ext cx="1056132" cy="38404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3796" y="1353312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Random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0774" y="1307592"/>
            <a:ext cx="1056132" cy="38404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99636" y="1353312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Limping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68899" y="1307592"/>
            <a:ext cx="1005840" cy="38404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7761" y="1353312"/>
            <a:ext cx="9555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11188" y="1307592"/>
            <a:ext cx="1398118" cy="38404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50050" y="1353312"/>
            <a:ext cx="134782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Aggressive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45756" y="1307592"/>
            <a:ext cx="1005840" cy="38404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84618" y="1353312"/>
            <a:ext cx="9555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Honest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05876" y="1307592"/>
            <a:ext cx="1005840" cy="38404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44738" y="1353312"/>
            <a:ext cx="9555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Mixed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90373" y="1728216"/>
            <a:ext cx="1740103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38379" y="1874519"/>
            <a:ext cx="168981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Q-Pal_Bot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49094" y="1728216"/>
            <a:ext cx="1056132" cy="621792"/>
          </a:xfrm>
          <a:prstGeom prst="rect">
            <a:avLst/>
          </a:prstGeom>
          <a:solidFill>
            <a:srgbClr val="D5F0D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49094" y="1874519"/>
            <a:ext cx="10561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6F3D"/>
                </a:solidFill>
                <a:latin typeface="Calibri"/>
              </a:rPr>
              <a:t>0.58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54934" y="1728216"/>
            <a:ext cx="1056132" cy="621792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54934" y="1874519"/>
            <a:ext cx="10561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0.84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60774" y="1728216"/>
            <a:ext cx="1056132" cy="621792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60774" y="1874519"/>
            <a:ext cx="10561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8899" y="1728216"/>
            <a:ext cx="1005840" cy="621792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68899" y="1874519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0.27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11188" y="1728216"/>
            <a:ext cx="1398118" cy="621792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11188" y="1874519"/>
            <a:ext cx="139811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0.08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45756" y="1728216"/>
            <a:ext cx="1005840" cy="621792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45756" y="1874519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05876" y="1728216"/>
            <a:ext cx="1005840" cy="621792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05876" y="1874519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0.15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90373" y="2386584"/>
            <a:ext cx="1740103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838379" y="2532888"/>
            <a:ext cx="168981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Q-Random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49094" y="2386584"/>
            <a:ext cx="1056132" cy="621792"/>
          </a:xfrm>
          <a:prstGeom prst="rect">
            <a:avLst/>
          </a:prstGeom>
          <a:solidFill>
            <a:srgbClr val="FA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49094" y="2532888"/>
            <a:ext cx="10561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−0.54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54934" y="2386584"/>
            <a:ext cx="1056132" cy="621792"/>
          </a:xfrm>
          <a:prstGeom prst="rect">
            <a:avLst/>
          </a:prstGeom>
          <a:solidFill>
            <a:srgbClr val="D5F0D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454934" y="2532888"/>
            <a:ext cx="10561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6F3D"/>
                </a:solidFill>
                <a:latin typeface="Calibri"/>
              </a:rPr>
              <a:t>1.38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0774" y="2386584"/>
            <a:ext cx="1056132" cy="621792"/>
          </a:xfrm>
          <a:prstGeom prst="rect">
            <a:avLst/>
          </a:prstGeom>
          <a:solidFill>
            <a:srgbClr val="FA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60774" y="2532888"/>
            <a:ext cx="10561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−0.82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68899" y="2386584"/>
            <a:ext cx="1005840" cy="621792"/>
          </a:xfrm>
          <a:prstGeom prst="rect">
            <a:avLst/>
          </a:prstGeom>
          <a:solidFill>
            <a:srgbClr val="FA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68899" y="2532888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−0.23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11188" y="2386584"/>
            <a:ext cx="1398118" cy="621792"/>
          </a:xfrm>
          <a:prstGeom prst="rect">
            <a:avLst/>
          </a:prstGeom>
          <a:solidFill>
            <a:srgbClr val="EEF5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11188" y="2532888"/>
            <a:ext cx="139811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0.71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45756" y="2386584"/>
            <a:ext cx="1005840" cy="621792"/>
          </a:xfrm>
          <a:prstGeom prst="rect">
            <a:avLst/>
          </a:prstGeom>
          <a:solidFill>
            <a:srgbClr val="FA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745756" y="2532888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−0.32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05876" y="2386584"/>
            <a:ext cx="1005840" cy="621792"/>
          </a:xfrm>
          <a:prstGeom prst="rect">
            <a:avLst/>
          </a:prstGeom>
          <a:solidFill>
            <a:srgbClr val="FA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705876" y="2532888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−0.32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90373" y="3044952"/>
            <a:ext cx="1740103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838379" y="3191256"/>
            <a:ext cx="168981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Q-Limping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49094" y="3044952"/>
            <a:ext cx="1056132" cy="621792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449094" y="3191256"/>
            <a:ext cx="10561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0.32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54934" y="3044952"/>
            <a:ext cx="1056132" cy="621792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454934" y="3191256"/>
            <a:ext cx="10561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0.99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60774" y="3044952"/>
            <a:ext cx="1056132" cy="621792"/>
          </a:xfrm>
          <a:prstGeom prst="rect">
            <a:avLst/>
          </a:prstGeom>
          <a:solidFill>
            <a:srgbClr val="D5F0D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460774" y="3191256"/>
            <a:ext cx="10561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6F3D"/>
                </a:solidFill>
                <a:latin typeface="Calibri"/>
              </a:rPr>
              <a:t>0.22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68899" y="3044952"/>
            <a:ext cx="1005840" cy="621792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68899" y="3191256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0.38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11188" y="3044952"/>
            <a:ext cx="1398118" cy="621792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411188" y="3191256"/>
            <a:ext cx="139811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0.16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745756" y="3044952"/>
            <a:ext cx="1005840" cy="621792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745756" y="3191256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0.37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705876" y="3044952"/>
            <a:ext cx="1005840" cy="621792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705876" y="3191256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0.35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790373" y="3703320"/>
            <a:ext cx="1740103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838379" y="3849624"/>
            <a:ext cx="168981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Q-Tight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449094" y="3703320"/>
            <a:ext cx="1056132" cy="621792"/>
          </a:xfrm>
          <a:prstGeom prst="rect">
            <a:avLst/>
          </a:prstGeom>
          <a:solidFill>
            <a:srgbClr val="EEF5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449094" y="3849624"/>
            <a:ext cx="10561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0.20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54934" y="3703320"/>
            <a:ext cx="1056132" cy="621792"/>
          </a:xfrm>
          <a:prstGeom prst="rect">
            <a:avLst/>
          </a:prstGeom>
          <a:solidFill>
            <a:srgbClr val="EEF5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454934" y="3849624"/>
            <a:ext cx="10561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0.95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60774" y="3703320"/>
            <a:ext cx="1056132" cy="621792"/>
          </a:xfrm>
          <a:prstGeom prst="rect">
            <a:avLst/>
          </a:prstGeom>
          <a:solidFill>
            <a:srgbClr val="EEF5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460774" y="3849624"/>
            <a:ext cx="10561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0.28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68899" y="3703320"/>
            <a:ext cx="1005840" cy="621792"/>
          </a:xfrm>
          <a:prstGeom prst="rect">
            <a:avLst/>
          </a:prstGeom>
          <a:solidFill>
            <a:srgbClr val="D5F0D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468899" y="3849624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6F3D"/>
                </a:solidFill>
                <a:latin typeface="Calibri"/>
              </a:rPr>
              <a:t>0.58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11188" y="3703320"/>
            <a:ext cx="1398118" cy="621792"/>
          </a:xfrm>
          <a:prstGeom prst="rect">
            <a:avLst/>
          </a:prstGeom>
          <a:solidFill>
            <a:srgbClr val="EEF5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411188" y="3849624"/>
            <a:ext cx="139811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0.28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745756" y="3703320"/>
            <a:ext cx="1005840" cy="621792"/>
          </a:xfrm>
          <a:prstGeom prst="rect">
            <a:avLst/>
          </a:prstGeom>
          <a:solidFill>
            <a:srgbClr val="EEF5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745756" y="3849624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0.41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705876" y="3703320"/>
            <a:ext cx="1005840" cy="621792"/>
          </a:xfrm>
          <a:prstGeom prst="rect">
            <a:avLst/>
          </a:prstGeom>
          <a:solidFill>
            <a:srgbClr val="EEF5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705876" y="3849624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0.42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790373" y="4361688"/>
            <a:ext cx="1740103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838379" y="4507992"/>
            <a:ext cx="168981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Q-Aggressive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449094" y="4361688"/>
            <a:ext cx="1056132" cy="621792"/>
          </a:xfrm>
          <a:prstGeom prst="rect">
            <a:avLst/>
          </a:prstGeom>
          <a:solidFill>
            <a:srgbClr val="FA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449094" y="4507992"/>
            <a:ext cx="10561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−0.17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454934" y="4361688"/>
            <a:ext cx="1056132" cy="621792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454934" y="4507992"/>
            <a:ext cx="10561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1.11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460774" y="4361688"/>
            <a:ext cx="1056132" cy="621792"/>
          </a:xfrm>
          <a:prstGeom prst="rect">
            <a:avLst/>
          </a:prstGeom>
          <a:solidFill>
            <a:srgbClr val="FA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460774" y="4507992"/>
            <a:ext cx="10561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−0.39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68899" y="4361688"/>
            <a:ext cx="1005840" cy="621792"/>
          </a:xfrm>
          <a:prstGeom prst="rect">
            <a:avLst/>
          </a:prstGeom>
          <a:solidFill>
            <a:srgbClr val="FA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468899" y="450799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−0.12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411188" y="4361688"/>
            <a:ext cx="1398118" cy="621792"/>
          </a:xfrm>
          <a:prstGeom prst="rect">
            <a:avLst/>
          </a:prstGeom>
          <a:solidFill>
            <a:srgbClr val="D5F0D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7411188" y="4507992"/>
            <a:ext cx="139811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6F3D"/>
                </a:solidFill>
                <a:latin typeface="Calibri"/>
              </a:rPr>
              <a:t>0.73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745756" y="4361688"/>
            <a:ext cx="1005840" cy="621792"/>
          </a:xfrm>
          <a:prstGeom prst="rect">
            <a:avLst/>
          </a:prstGeom>
          <a:solidFill>
            <a:srgbClr val="FA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745756" y="450799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−0.07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705876" y="4361688"/>
            <a:ext cx="1005840" cy="621792"/>
          </a:xfrm>
          <a:prstGeom prst="rect">
            <a:avLst/>
          </a:prstGeom>
          <a:solidFill>
            <a:srgbClr val="FA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705876" y="450799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−0.05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790373" y="5020056"/>
            <a:ext cx="1740103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838379" y="5166360"/>
            <a:ext cx="168981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Q-Honest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49094" y="5020056"/>
            <a:ext cx="1056132" cy="621792"/>
          </a:xfrm>
          <a:prstGeom prst="rect">
            <a:avLst/>
          </a:prstGeom>
          <a:solidFill>
            <a:srgbClr val="EEF5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449094" y="5166360"/>
            <a:ext cx="10561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0.10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454934" y="5020056"/>
            <a:ext cx="1056132" cy="621792"/>
          </a:xfrm>
          <a:prstGeom prst="rect">
            <a:avLst/>
          </a:prstGeom>
          <a:solidFill>
            <a:srgbClr val="EEF5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454934" y="5166360"/>
            <a:ext cx="10561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0.95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460774" y="5020056"/>
            <a:ext cx="1056132" cy="621792"/>
          </a:xfrm>
          <a:prstGeom prst="rect">
            <a:avLst/>
          </a:prstGeom>
          <a:solidFill>
            <a:srgbClr val="EEF5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5460774" y="5166360"/>
            <a:ext cx="10561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0.17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68899" y="5020056"/>
            <a:ext cx="1005840" cy="621792"/>
          </a:xfrm>
          <a:prstGeom prst="rect">
            <a:avLst/>
          </a:prstGeom>
          <a:solidFill>
            <a:srgbClr val="EEF5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6468899" y="5166360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0.21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411188" y="5020056"/>
            <a:ext cx="1398118" cy="621792"/>
          </a:xfrm>
          <a:prstGeom prst="rect">
            <a:avLst/>
          </a:prstGeom>
          <a:solidFill>
            <a:srgbClr val="EEF5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411188" y="5166360"/>
            <a:ext cx="139811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0.21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745756" y="5020056"/>
            <a:ext cx="1005840" cy="621792"/>
          </a:xfrm>
          <a:prstGeom prst="rect">
            <a:avLst/>
          </a:prstGeom>
          <a:solidFill>
            <a:srgbClr val="D5F0D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745756" y="5166360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6F3D"/>
                </a:solidFill>
                <a:latin typeface="Calibri"/>
              </a:rPr>
              <a:t>0.42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05876" y="5020056"/>
            <a:ext cx="1005840" cy="621792"/>
          </a:xfrm>
          <a:prstGeom prst="rect">
            <a:avLst/>
          </a:prstGeom>
          <a:solidFill>
            <a:srgbClr val="EEF5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9705876" y="5166360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0.43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56032" y="6455664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7A8599"/>
                </a:solidFill>
                <a:latin typeface="Calibri"/>
              </a:rPr>
              <a:t>Green = diagonal (agent trained vs that opponent type)  ·  Red = loss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228600" y="12000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SUPER H</a:t>
            </a:r>
            <a:r>
              <a:rPr lang="en-US" sz="3200" b="1" dirty="0" err="1">
                <a:solidFill>
                  <a:srgbClr val="FFFFFF"/>
                </a:solidFill>
                <a:latin typeface="Cambria"/>
              </a:rPr>
              <a:t>orny</a:t>
            </a:r>
            <a:r>
              <a:rPr lang="en-US" sz="3200" b="1" dirty="0">
                <a:solidFill>
                  <a:srgbClr val="FFFFFF"/>
                </a:solidFill>
                <a:latin typeface="Cambria"/>
              </a:rPr>
              <a:t>-Bot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— Curriculum Training</a:t>
            </a:r>
          </a:p>
        </p:txBody>
      </p:sp>
      <p:sp>
        <p:nvSpPr>
          <p:cNvPr id="4" name="Phase1Box"/>
          <p:cNvSpPr/>
          <p:nvPr/>
        </p:nvSpPr>
        <p:spPr>
          <a:xfrm>
            <a:off x="1418304" y="820000"/>
            <a:ext cx="2900000" cy="5700000"/>
          </a:xfrm>
          <a:prstGeom prst="roundRect">
            <a:avLst/>
          </a:prstGeom>
          <a:solidFill>
            <a:srgbClr val="1B3A2D"/>
          </a:solidFill>
          <a:ln w="6350">
            <a:solidFill>
              <a:srgbClr val="2D6A4F"/>
            </a:solidFill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Phase1Header"/>
          <p:cNvSpPr txBox="1"/>
          <p:nvPr/>
        </p:nvSpPr>
        <p:spPr>
          <a:xfrm>
            <a:off x="1499704" y="870000"/>
            <a:ext cx="27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52B7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Phase 1 — Warmup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0% → 10% of games</a:t>
            </a:r>
          </a:p>
        </p:txBody>
      </p:sp>
      <p:sp>
        <p:nvSpPr>
          <p:cNvPr id="6" name="Phase1Body"/>
          <p:cNvSpPr txBox="1"/>
          <p:nvPr/>
        </p:nvSpPr>
        <p:spPr>
          <a:xfrm>
            <a:off x="1499704" y="1310000"/>
            <a:ext cx="2740000" cy="841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marR="0" lvl="0" indent="-180000" algn="l" defTabSz="4572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●"/>
              <a:tabLst/>
              <a:defRPr/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Easy fixed opponents only</a:t>
            </a:r>
          </a:p>
          <a:p>
            <a:pPr marL="180000" marR="0" lvl="0" indent="-180000" algn="l" defTabSz="4572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●"/>
              <a:tabLst/>
              <a:defRPr/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Random,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Aggressive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80000" marR="0" lvl="0" indent="-180000" algn="l" defTabSz="4572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●"/>
              <a:tabLst/>
              <a:defRPr/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Goal: bootstrap Q-values from zero</a:t>
            </a:r>
          </a:p>
        </p:txBody>
      </p:sp>
      <p:sp>
        <p:nvSpPr>
          <p:cNvPr id="7" name="Phase2Box"/>
          <p:cNvSpPr/>
          <p:nvPr/>
        </p:nvSpPr>
        <p:spPr>
          <a:xfrm>
            <a:off x="4469704" y="820000"/>
            <a:ext cx="2900000" cy="5700000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E67E22"/>
            </a:solidFill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Phase2Header"/>
          <p:cNvSpPr txBox="1"/>
          <p:nvPr/>
        </p:nvSpPr>
        <p:spPr>
          <a:xfrm>
            <a:off x="4549704" y="870000"/>
            <a:ext cx="274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E67E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Phase 2 — Ramp-Up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10% → 35% of games</a:t>
            </a:r>
          </a:p>
        </p:txBody>
      </p:sp>
      <p:sp>
        <p:nvSpPr>
          <p:cNvPr id="9" name="Phase2Body"/>
          <p:cNvSpPr txBox="1"/>
          <p:nvPr/>
        </p:nvSpPr>
        <p:spPr>
          <a:xfrm>
            <a:off x="4549704" y="1310000"/>
            <a:ext cx="2740000" cy="1098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marR="0" lvl="0" indent="-180000" algn="l" defTabSz="4572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●"/>
              <a:tabLst/>
              <a:defRPr/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55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all the rest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80000" marR="0" lvl="0" indent="-180000" algn="l" defTabSz="4572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●"/>
              <a:tabLst/>
              <a:defRPr/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45% specialist Q-agents</a:t>
            </a:r>
          </a:p>
          <a:p>
            <a:pPr marL="180000" marR="0" lvl="0" indent="-180000" algn="l" defTabSz="4572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●"/>
              <a:tabLst/>
              <a:defRPr/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Goal: broaden exposure before Horn-y Bot</a:t>
            </a:r>
          </a:p>
        </p:txBody>
      </p:sp>
      <p:sp>
        <p:nvSpPr>
          <p:cNvPr id="10" name="Phase3Box"/>
          <p:cNvSpPr/>
          <p:nvPr/>
        </p:nvSpPr>
        <p:spPr>
          <a:xfrm>
            <a:off x="7519704" y="820000"/>
            <a:ext cx="3230000" cy="5700000"/>
          </a:xfrm>
          <a:prstGeom prst="roundRect">
            <a:avLst/>
          </a:prstGeom>
          <a:solidFill>
            <a:srgbClr val="2C1654"/>
          </a:solidFill>
          <a:ln w="6350">
            <a:solidFill>
              <a:srgbClr val="9B59B6"/>
            </a:solidFill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Phase3Header"/>
          <p:cNvSpPr txBox="1"/>
          <p:nvPr/>
        </p:nvSpPr>
        <p:spPr>
          <a:xfrm>
            <a:off x="7609704" y="870000"/>
            <a:ext cx="305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9B59B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Phase 3 — Main Arena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35% → 100% of games</a:t>
            </a:r>
          </a:p>
        </p:txBody>
      </p:sp>
      <p:sp>
        <p:nvSpPr>
          <p:cNvPr id="12" name="Pill1"/>
          <p:cNvSpPr/>
          <p:nvPr/>
        </p:nvSpPr>
        <p:spPr>
          <a:xfrm>
            <a:off x="7609704" y="1340000"/>
            <a:ext cx="3050000" cy="56000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50% — Horn-y Bot</a:t>
            </a:r>
          </a:p>
        </p:txBody>
      </p:sp>
      <p:sp>
        <p:nvSpPr>
          <p:cNvPr id="13" name="Pill2"/>
          <p:cNvSpPr/>
          <p:nvPr/>
        </p:nvSpPr>
        <p:spPr>
          <a:xfrm>
            <a:off x="7609704" y="2040000"/>
            <a:ext cx="3050000" cy="5600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20% — Specialist Q-Agents</a:t>
            </a:r>
          </a:p>
        </p:txBody>
      </p:sp>
      <p:sp>
        <p:nvSpPr>
          <p:cNvPr id="14" name="Pill3"/>
          <p:cNvSpPr/>
          <p:nvPr/>
        </p:nvSpPr>
        <p:spPr>
          <a:xfrm>
            <a:off x="7609704" y="2740000"/>
            <a:ext cx="3050000" cy="5600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15% — Fixed Styles</a:t>
            </a:r>
          </a:p>
        </p:txBody>
      </p:sp>
      <p:sp>
        <p:nvSpPr>
          <p:cNvPr id="15" name="Pill4"/>
          <p:cNvSpPr/>
          <p:nvPr/>
        </p:nvSpPr>
        <p:spPr>
          <a:xfrm>
            <a:off x="7609704" y="3440000"/>
            <a:ext cx="3050000" cy="560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15% — Frozen Self-Play</a:t>
            </a:r>
          </a:p>
        </p:txBody>
      </p:sp>
      <p:sp>
        <p:nvSpPr>
          <p:cNvPr id="16" name="Phase3Note"/>
          <p:cNvSpPr txBox="1"/>
          <p:nvPr/>
        </p:nvSpPr>
        <p:spPr>
          <a:xfrm>
            <a:off x="7609704" y="4200000"/>
            <a:ext cx="305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marR="0" lvl="0" indent="-18000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▶"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Frozen snapshot refreshed every 5,000 games</a:t>
            </a:r>
          </a:p>
          <a:p>
            <a:pPr marL="180000" marR="0" lvl="0" indent="-18000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▶"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ε decays: 1.0 → 0.01 over all games</a:t>
            </a:r>
          </a:p>
        </p:txBody>
      </p:sp>
    </p:spTree>
  </p:cSld>
  <p:clrMapOvr>
    <a:masterClrMapping/>
  </p:clrMapOvr>
  <p:transition spd="med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FFFFFF"/>
                </a:solidFill>
                <a:latin typeface="Cambria"/>
              </a:rPr>
              <a:t>LeDuc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7899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B44A"/>
                </a:solidFill>
                <a:latin typeface="Calibri"/>
              </a:rPr>
              <a:t>Tournament Ranking — Avg BB/Hand vs All Opponents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47548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B44A"/>
                </a:solidFill>
                <a:latin typeface="Calibri"/>
              </a:rPr>
              <a:t>Head-to-Head Heatmap  (green = row agent wins)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E5739F-8034-43C4-6B26-7AF4E7B6F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477" y="5157216"/>
            <a:ext cx="8544660" cy="13225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4550F1-0CA4-C757-4C48-CAC8FEDE0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068" y="1405766"/>
            <a:ext cx="4536932" cy="334911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E625C8-DE97-AC33-6FBE-E29C69704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FA5F4F-73FF-70D8-A8A9-940EE6138C4F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C4B6C9-451C-38E5-7C01-AB618AE3CF34}"/>
              </a:ext>
            </a:extLst>
          </p:cNvPr>
          <p:cNvSpPr txBox="1"/>
          <p:nvPr/>
        </p:nvSpPr>
        <p:spPr>
          <a:xfrm>
            <a:off x="228600" y="164592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  <a:latin typeface="Cambria"/>
              </a:rPr>
              <a:t>Limit Texas </a:t>
            </a:r>
            <a:r>
              <a:rPr sz="3400" b="1" i="0" dirty="0" err="1">
                <a:solidFill>
                  <a:srgbClr val="FFFFFF"/>
                </a:solidFill>
                <a:latin typeface="Cambria"/>
              </a:rPr>
              <a:t>Hold’em</a:t>
            </a:r>
            <a:endParaRPr sz="3400" b="1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815EE7D-312A-DDE5-D73F-78A344E6B7CA}"/>
              </a:ext>
            </a:extLst>
          </p:cNvPr>
          <p:cNvSpPr/>
          <p:nvPr/>
        </p:nvSpPr>
        <p:spPr>
          <a:xfrm>
            <a:off x="2971800" y="1124712"/>
            <a:ext cx="6327648" cy="4032504"/>
          </a:xfrm>
          <a:prstGeom prst="roundRect">
            <a:avLst/>
          </a:prstGeom>
          <a:solidFill>
            <a:srgbClr val="2D6A4F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206208-E472-A106-6968-4F922D58C94A}"/>
              </a:ext>
            </a:extLst>
          </p:cNvPr>
          <p:cNvSpPr txBox="1"/>
          <p:nvPr/>
        </p:nvSpPr>
        <p:spPr>
          <a:xfrm>
            <a:off x="3154680" y="1216152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FF00"/>
                </a:solidFill>
              </a:rPr>
              <a:t>Game Rules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871A7B-4AD0-4E56-F2DE-CE089AB17B7A}"/>
              </a:ext>
            </a:extLst>
          </p:cNvPr>
          <p:cNvSpPr txBox="1"/>
          <p:nvPr/>
        </p:nvSpPr>
        <p:spPr>
          <a:xfrm>
            <a:off x="3154680" y="1700784"/>
            <a:ext cx="51206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FFFF00"/>
                </a:solidFill>
                <a:latin typeface="Calibri"/>
              </a:rPr>
              <a:t>2 players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FFFF00"/>
                </a:solidFill>
                <a:latin typeface="Calibri"/>
              </a:rPr>
              <a:t>Standard 52-card deck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FFFF00"/>
                </a:solidFill>
                <a:latin typeface="Calibri"/>
              </a:rPr>
              <a:t>Each player is dealt 2 private cards (hole cards)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FFFF00"/>
                </a:solidFill>
                <a:latin typeface="Calibri"/>
              </a:rPr>
              <a:t>4 betting rounds: Pre-flop → Flop (3 community cards) → Turn (1 card) → River (1 card)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FFFF00"/>
                </a:solidFill>
                <a:latin typeface="Calibri"/>
              </a:rPr>
              <a:t>5 community cards are revealed progressively — shared by both </a:t>
            </a:r>
            <a:r>
              <a:rPr lang="en-US" sz="1600" dirty="0" err="1">
                <a:solidFill>
                  <a:srgbClr val="FFFF00"/>
                </a:solidFill>
                <a:latin typeface="Calibri"/>
              </a:rPr>
              <a:t>playersBest</a:t>
            </a:r>
            <a:r>
              <a:rPr lang="en-US" sz="1600" dirty="0">
                <a:solidFill>
                  <a:srgbClr val="FFFF00"/>
                </a:solidFill>
                <a:latin typeface="Calibri"/>
              </a:rPr>
              <a:t>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FFFF00"/>
                </a:solidFill>
                <a:latin typeface="Calibri"/>
              </a:rPr>
              <a:t>5-card hand wins (from any combination of hole + community cards)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FFFF00"/>
                </a:solidFill>
                <a:latin typeface="Calibri"/>
              </a:rPr>
              <a:t>"Limit" = raise amounts are fixed (Small Bet pre-flop/flop, Big Bet turn/river)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FFFF00"/>
                </a:solidFill>
                <a:latin typeface="Calibri"/>
              </a:rPr>
              <a:t>Win by best hand at showdown, or opponent folds</a:t>
            </a:r>
          </a:p>
        </p:txBody>
      </p:sp>
    </p:spTree>
    <p:extLst>
      <p:ext uri="{BB962C8B-B14F-4D97-AF65-F5344CB8AC3E}">
        <p14:creationId xmlns:p14="http://schemas.microsoft.com/office/powerpoint/2010/main" val="2096242050"/>
      </p:ext>
    </p:extLst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  <a:latin typeface="Cambria"/>
              </a:rPr>
              <a:t>Limit Texas </a:t>
            </a:r>
            <a:r>
              <a:rPr sz="3400" b="1" i="0" dirty="0" err="1">
                <a:solidFill>
                  <a:srgbClr val="FFFFFF"/>
                </a:solidFill>
                <a:latin typeface="Cambria"/>
              </a:rPr>
              <a:t>Hold’em</a:t>
            </a:r>
            <a:r>
              <a:rPr lang="en-US" sz="3400" b="1" i="0" dirty="0">
                <a:solidFill>
                  <a:srgbClr val="FFFFFF"/>
                </a:solidFill>
                <a:latin typeface="Cambria"/>
              </a:rPr>
              <a:t> - </a:t>
            </a:r>
            <a:r>
              <a:rPr lang="en-US" sz="3400" b="1" dirty="0">
                <a:solidFill>
                  <a:srgbClr val="FFFFFF"/>
                </a:solidFill>
                <a:latin typeface="Cambria"/>
              </a:rPr>
              <a:t>Choice of RL Method </a:t>
            </a:r>
            <a:endParaRPr sz="3400" b="1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971800" y="1124712"/>
            <a:ext cx="6327648" cy="3599688"/>
          </a:xfrm>
          <a:prstGeom prst="roundRect">
            <a:avLst/>
          </a:prstGeom>
          <a:solidFill>
            <a:srgbClr val="2D6A4F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54680" y="1216152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00"/>
                </a:solidFill>
                <a:latin typeface="Calibri"/>
              </a:rPr>
              <a:t>Why Deep Q-Network?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700784"/>
            <a:ext cx="512064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sz="1600" dirty="0">
                <a:solidFill>
                  <a:srgbClr val="FFFF00"/>
                </a:solidFill>
                <a:latin typeface="Calibri"/>
              </a:rPr>
              <a:t>Texas </a:t>
            </a:r>
            <a:r>
              <a:rPr sz="1600" dirty="0" err="1">
                <a:solidFill>
                  <a:srgbClr val="FFFF00"/>
                </a:solidFill>
                <a:latin typeface="Calibri"/>
              </a:rPr>
              <a:t>Hold'em</a:t>
            </a:r>
            <a:r>
              <a:rPr sz="1600" dirty="0">
                <a:solidFill>
                  <a:srgbClr val="FFFF00"/>
                </a:solidFill>
                <a:latin typeface="Calibri"/>
              </a:rPr>
              <a:t> has a vastly larger state space than LeDuc</a:t>
            </a:r>
          </a:p>
          <a:p>
            <a:pPr algn="l"/>
            <a:r>
              <a:rPr sz="1600" dirty="0">
                <a:solidFill>
                  <a:srgbClr val="FFFF00"/>
                </a:solidFill>
                <a:latin typeface="Calibri"/>
              </a:rPr>
              <a:t>State = 72-dimensional continuous float vector — billions of possible states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sz="1600" dirty="0">
                <a:solidFill>
                  <a:srgbClr val="FFFF00"/>
                </a:solidFill>
                <a:latin typeface="Calibri"/>
              </a:rPr>
              <a:t>Tabular Q-table is completely infeasible at this scale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sz="1600" dirty="0">
                <a:solidFill>
                  <a:srgbClr val="FFFF00"/>
                </a:solidFill>
                <a:latin typeface="Calibri"/>
              </a:rPr>
              <a:t>A neural network approximates Q(</a:t>
            </a:r>
            <a:r>
              <a:rPr sz="1600" dirty="0" err="1">
                <a:solidFill>
                  <a:srgbClr val="FFFF00"/>
                </a:solidFill>
                <a:latin typeface="Calibri"/>
              </a:rPr>
              <a:t>s,a</a:t>
            </a:r>
            <a:r>
              <a:rPr sz="1600" dirty="0">
                <a:solidFill>
                  <a:srgbClr val="FFFF00"/>
                </a:solidFill>
                <a:latin typeface="Calibri"/>
              </a:rPr>
              <a:t>) over continuous space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sz="1600" dirty="0">
                <a:solidFill>
                  <a:srgbClr val="FFFF00"/>
                </a:solidFill>
                <a:latin typeface="Calibri"/>
              </a:rPr>
              <a:t>Same Q-learning principle — only the function approximator changes</a:t>
            </a:r>
          </a:p>
        </p:txBody>
      </p:sp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DQN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60220" y="1527048"/>
            <a:ext cx="1508760" cy="3383280"/>
          </a:xfrm>
          <a:prstGeom prst="roundRect">
            <a:avLst/>
          </a:prstGeom>
          <a:solidFill>
            <a:srgbClr val="5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60220" y="2871216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Input
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91940" y="1527048"/>
            <a:ext cx="1508760" cy="3383280"/>
          </a:xfrm>
          <a:prstGeom prst="round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91940" y="2871216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Hidden
256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23660" y="1527048"/>
            <a:ext cx="1508760" cy="3383280"/>
          </a:xfrm>
          <a:prstGeom prst="round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3660" y="2871216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Hidden
256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55380" y="1527048"/>
            <a:ext cx="1508760" cy="3383280"/>
          </a:xfrm>
          <a:prstGeom prst="roundRect">
            <a:avLst/>
          </a:prstGeom>
          <a:solidFill>
            <a:srgbClr val="E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55380" y="2871216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Output
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8980" y="296265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0B44A"/>
                </a:solidFill>
                <a:latin typeface="Cambria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0700" y="296265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0B44A"/>
                </a:solidFill>
                <a:latin typeface="Cambria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2420" y="296265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0B44A"/>
                </a:solidFill>
                <a:latin typeface="Cambria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1900" y="50017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A8599"/>
                </a:solidFill>
                <a:latin typeface="Calibri"/>
              </a:rPr>
              <a:t>ReLU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3620" y="50017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A8599"/>
                </a:solidFill>
                <a:latin typeface="Calibri"/>
              </a:rPr>
              <a:t>ReLU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8140" y="49560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A8599"/>
                </a:solidFill>
                <a:latin typeface="Calibri"/>
              </a:rPr>
              <a:t>No activation
(raw Q-values)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2910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599"/>
                </a:solidFill>
                <a:latin typeface="Calibri"/>
              </a:rPr>
              <a:t>γ=0.99  ·  ε: 1.0→0.02 (decay 0.99995/ep)  ·  Buffer min: 1,000  ·  Hidden: 256</a:t>
            </a:r>
          </a:p>
        </p:txBody>
      </p:sp>
    </p:spTree>
  </p:cSld>
  <p:clrMapOvr>
    <a:masterClrMapping/>
  </p:clrMapOvr>
  <p:transition spd="med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DQN Training Process —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3774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Calibri"/>
              </a:rPr>
              <a:t>TECHNICAL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143000"/>
            <a:ext cx="530352" cy="530352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16152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" y="1143000"/>
            <a:ext cx="5230368" cy="1234440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7" y="121615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Observe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1581912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Environment provides a 72-float state vector s and a legal action mask.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2514600"/>
            <a:ext cx="530352" cy="530352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" y="2587752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" y="2514600"/>
            <a:ext cx="5230368" cy="1234440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8407" y="258775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Select Action  (ε-greedy)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7" y="2953512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prob ε: random legal action.  Otherwise: online net → mask illegal → argmax.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886200"/>
            <a:ext cx="530352" cy="530352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8600" y="3959352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" y="3886200"/>
            <a:ext cx="5230368" cy="1234440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7" y="395935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Execute &amp; Receive Reward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7" y="4325112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Mid-hand reward = 0. At hand end: reward = payoff in big blinds (+ or −).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" y="5257800"/>
            <a:ext cx="530352" cy="530352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28600" y="5330952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" y="5257800"/>
            <a:ext cx="5230368" cy="1234440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8407" y="533095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Store Transition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7" y="5696712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(s, a, r, s', done, mask) pushed to buffer. Auto-discarded at 100k.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143000"/>
            <a:ext cx="530352" cy="530352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63640" y="1216152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85431" y="1143000"/>
            <a:ext cx="5230368" cy="1234440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13448" y="121615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Sample &amp; Compute Target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3448" y="1581912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128 random transitions. Target = r + γ·max Q_target(s',a'). Terminal: target = 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2514600"/>
            <a:ext cx="530352" cy="530352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63640" y="2587752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85431" y="2514600"/>
            <a:ext cx="5230368" cy="1234440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13448" y="258775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Gradient Update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3448" y="2953512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MSE(Q_online(s,a), target) backpropagated. Grad norm clipped at 10. Target net synced every 1k steps.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886200"/>
            <a:ext cx="530352" cy="530352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63640" y="3959352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85431" y="3886200"/>
            <a:ext cx="5230368" cy="1234440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13448" y="395935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Decay 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13448" y="4325112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ε(t) = max(0.02, 0.99995ᵗ) — exploration fades over ~80k episodes.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8600" y="6492240"/>
            <a:ext cx="11731752" cy="256032"/>
          </a:xfrm>
          <a:prstGeom prst="roundRect">
            <a:avLst/>
          </a:prstGeom>
          <a:solidFill>
            <a:srgbClr val="0F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8600" y="6519672"/>
            <a:ext cx="11731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5CF7E"/>
                </a:solidFill>
                <a:latin typeface="Calibri"/>
              </a:rPr>
              <a:t>Repeat each episode. The online network gradually learns which actions lead to positive payoffs.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1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4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8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5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6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7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1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1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2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4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6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6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7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7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7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/>
      <p:bldP spid="11" grpId="0" animBg="1"/>
      <p:bldP spid="12" grpId="0"/>
      <p:bldP spid="13" grpId="0" animBg="1"/>
      <p:bldP spid="14" grpId="0"/>
      <p:bldP spid="15" grpId="0"/>
      <p:bldP spid="16" grpId="0" animBg="1"/>
      <p:bldP spid="17" grpId="0"/>
      <p:bldP spid="18" grpId="0" animBg="1"/>
      <p:bldP spid="19" grpId="0"/>
      <p:bldP spid="20" grpId="0"/>
      <p:bldP spid="21" grpId="0" animBg="1"/>
      <p:bldP spid="22" grpId="0"/>
      <p:bldP spid="23" grpId="0" animBg="1"/>
      <p:bldP spid="24" grpId="0"/>
      <p:bldP spid="25" grpId="0"/>
      <p:bldP spid="26" grpId="0" animBg="1"/>
      <p:bldP spid="27" grpId="0"/>
      <p:bldP spid="28" grpId="0" animBg="1"/>
      <p:bldP spid="29" grpId="0"/>
      <p:bldP spid="30" grpId="0"/>
      <p:bldP spid="31" grpId="0" animBg="1"/>
      <p:bldP spid="32" grpId="0"/>
      <p:bldP spid="33" grpId="0" animBg="1"/>
      <p:bldP spid="34" grpId="0"/>
      <p:bldP spid="35" grpId="0"/>
      <p:bldP spid="36" grpId="0" animBg="1"/>
      <p:bldP spid="37" grpId="0"/>
      <p:bldP spid="38" grpId="0" animBg="1"/>
      <p:bldP spid="39" grpId="0"/>
      <p:bldP spid="4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8572DE-BA8B-0494-E045-EADA32CCF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EAE6DD-E4DF-4FC2-BA17-04F6A78D4BEB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9B40B7-805E-FA0F-C30D-97865929EABE}"/>
              </a:ext>
            </a:extLst>
          </p:cNvPr>
          <p:cNvSpPr txBox="1"/>
          <p:nvPr/>
        </p:nvSpPr>
        <p:spPr>
          <a:xfrm>
            <a:off x="228600" y="164592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  <a:latin typeface="Cambria"/>
              </a:rPr>
              <a:t>Texas </a:t>
            </a:r>
            <a:r>
              <a:rPr sz="3400" b="1" i="0" dirty="0" err="1">
                <a:solidFill>
                  <a:srgbClr val="FFFFFF"/>
                </a:solidFill>
                <a:latin typeface="Cambria"/>
              </a:rPr>
              <a:t>Hold'em</a:t>
            </a:r>
            <a:r>
              <a:rPr sz="3400" b="1" i="0" dirty="0">
                <a:solidFill>
                  <a:srgbClr val="FFFFFF"/>
                </a:solidFill>
                <a:latin typeface="Cambria"/>
              </a:rPr>
              <a:t> — Baselines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081B26-1223-B0E3-9D00-F3F701D59BAE}"/>
              </a:ext>
            </a:extLst>
          </p:cNvPr>
          <p:cNvSpPr txBox="1"/>
          <p:nvPr/>
        </p:nvSpPr>
        <p:spPr>
          <a:xfrm>
            <a:off x="3186684" y="1060705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B44A"/>
                </a:solidFill>
                <a:latin typeface="Calibri"/>
              </a:rPr>
              <a:t>Fixed Baseline Opponents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B82676B-F602-EE92-8412-48CD3B155937}"/>
              </a:ext>
            </a:extLst>
          </p:cNvPr>
          <p:cNvSpPr/>
          <p:nvPr/>
        </p:nvSpPr>
        <p:spPr>
          <a:xfrm>
            <a:off x="3186684" y="1481329"/>
            <a:ext cx="5577840" cy="1042415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851B70-5AEC-6874-62D6-5F233815F465}"/>
              </a:ext>
            </a:extLst>
          </p:cNvPr>
          <p:cNvSpPr/>
          <p:nvPr/>
        </p:nvSpPr>
        <p:spPr>
          <a:xfrm>
            <a:off x="3186684" y="1481329"/>
            <a:ext cx="237744" cy="1042415"/>
          </a:xfrm>
          <a:prstGeom prst="rect">
            <a:avLst/>
          </a:prstGeom>
          <a:solidFill>
            <a:srgbClr val="7A8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629F36-3A5B-943E-2836-5C0FC9B7FFFF}"/>
              </a:ext>
            </a:extLst>
          </p:cNvPr>
          <p:cNvSpPr txBox="1"/>
          <p:nvPr/>
        </p:nvSpPr>
        <p:spPr>
          <a:xfrm>
            <a:off x="3506724" y="16184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Random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3D8220-5DB9-5502-EB7A-36F4453DC41E}"/>
              </a:ext>
            </a:extLst>
          </p:cNvPr>
          <p:cNvSpPr txBox="1"/>
          <p:nvPr/>
        </p:nvSpPr>
        <p:spPr>
          <a:xfrm>
            <a:off x="3506724" y="2011680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Uniform random — lower-bound baseline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95F1F1B-5DA5-18F2-39C1-0BD1581BD18F}"/>
              </a:ext>
            </a:extLst>
          </p:cNvPr>
          <p:cNvSpPr/>
          <p:nvPr/>
        </p:nvSpPr>
        <p:spPr>
          <a:xfrm>
            <a:off x="3186684" y="2633473"/>
            <a:ext cx="5577840" cy="1042415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0772E6-BFF1-5695-A68A-0AC00EC84562}"/>
              </a:ext>
            </a:extLst>
          </p:cNvPr>
          <p:cNvSpPr/>
          <p:nvPr/>
        </p:nvSpPr>
        <p:spPr>
          <a:xfrm>
            <a:off x="3186684" y="2633473"/>
            <a:ext cx="237744" cy="1042415"/>
          </a:xfrm>
          <a:prstGeom prst="rect">
            <a:avLst/>
          </a:prstGeom>
          <a:solidFill>
            <a:srgbClr val="5B8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418AB0-D7C0-363B-CF53-CC5418F87DF7}"/>
              </a:ext>
            </a:extLst>
          </p:cNvPr>
          <p:cNvSpPr txBox="1"/>
          <p:nvPr/>
        </p:nvSpPr>
        <p:spPr>
          <a:xfrm>
            <a:off x="3506724" y="2770633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Limping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E9B4D4-8D07-F87A-0027-A01505A6A668}"/>
              </a:ext>
            </a:extLst>
          </p:cNvPr>
          <p:cNvSpPr txBox="1"/>
          <p:nvPr/>
        </p:nvSpPr>
        <p:spPr>
          <a:xfrm>
            <a:off x="3506724" y="3163825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Checks/calls, raises ~40% with K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EC5BAC5-8639-B384-2526-9B8774033221}"/>
              </a:ext>
            </a:extLst>
          </p:cNvPr>
          <p:cNvSpPr/>
          <p:nvPr/>
        </p:nvSpPr>
        <p:spPr>
          <a:xfrm>
            <a:off x="3186684" y="3785617"/>
            <a:ext cx="5577840" cy="1042415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BCB309-90BD-7089-8588-B6BC8B2837E0}"/>
              </a:ext>
            </a:extLst>
          </p:cNvPr>
          <p:cNvSpPr/>
          <p:nvPr/>
        </p:nvSpPr>
        <p:spPr>
          <a:xfrm>
            <a:off x="3186684" y="3785617"/>
            <a:ext cx="237744" cy="1042415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0A7F46-2116-F586-27F1-E779B80AB4B5}"/>
              </a:ext>
            </a:extLst>
          </p:cNvPr>
          <p:cNvSpPr txBox="1"/>
          <p:nvPr/>
        </p:nvSpPr>
        <p:spPr>
          <a:xfrm>
            <a:off x="3506724" y="392277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Tight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F9C65D-CE8F-ADCB-31A1-7AE0BFFB39C6}"/>
              </a:ext>
            </a:extLst>
          </p:cNvPr>
          <p:cNvSpPr txBox="1"/>
          <p:nvPr/>
        </p:nvSpPr>
        <p:spPr>
          <a:xfrm>
            <a:off x="3506724" y="4315969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Folds J, checks Q, raises K ~60%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E787D58-FDE7-E7E4-DE6E-295FF25E5742}"/>
              </a:ext>
            </a:extLst>
          </p:cNvPr>
          <p:cNvSpPr/>
          <p:nvPr/>
        </p:nvSpPr>
        <p:spPr>
          <a:xfrm>
            <a:off x="3186684" y="4937761"/>
            <a:ext cx="5577840" cy="1042415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A23FE6-FB08-B829-06D1-284D4CD0990D}"/>
              </a:ext>
            </a:extLst>
          </p:cNvPr>
          <p:cNvSpPr/>
          <p:nvPr/>
        </p:nvSpPr>
        <p:spPr>
          <a:xfrm>
            <a:off x="3186684" y="4937761"/>
            <a:ext cx="237744" cy="1042415"/>
          </a:xfrm>
          <a:prstGeom prst="rect">
            <a:avLst/>
          </a:prstGeom>
          <a:solidFill>
            <a:srgbClr val="E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549020-D3FC-9299-A680-298609418DA4}"/>
              </a:ext>
            </a:extLst>
          </p:cNvPr>
          <p:cNvSpPr txBox="1"/>
          <p:nvPr/>
        </p:nvSpPr>
        <p:spPr>
          <a:xfrm>
            <a:off x="3506724" y="507492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Aggressive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E45AFA-7947-C441-21B5-6810FC4D74CF}"/>
              </a:ext>
            </a:extLst>
          </p:cNvPr>
          <p:cNvSpPr txBox="1"/>
          <p:nvPr/>
        </p:nvSpPr>
        <p:spPr>
          <a:xfrm>
            <a:off x="3506724" y="5468113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Raises ~65% regardless of hand</a:t>
            </a:r>
          </a:p>
        </p:txBody>
      </p:sp>
    </p:spTree>
    <p:extLst>
      <p:ext uri="{BB962C8B-B14F-4D97-AF65-F5344CB8AC3E}">
        <p14:creationId xmlns:p14="http://schemas.microsoft.com/office/powerpoint/2010/main" val="2632057287"/>
      </p:ext>
    </p:extLst>
  </p:cSld>
  <p:clrMapOvr>
    <a:masterClrMapping/>
  </p:clrMapOvr>
  <p:transition spd="med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  <a:latin typeface="Cambria"/>
              </a:rPr>
              <a:t>Texas </a:t>
            </a:r>
            <a:r>
              <a:rPr sz="3400" b="1" i="0" dirty="0" err="1">
                <a:solidFill>
                  <a:srgbClr val="FFFFFF"/>
                </a:solidFill>
                <a:latin typeface="Cambria"/>
              </a:rPr>
              <a:t>Hold'em</a:t>
            </a:r>
            <a:r>
              <a:rPr sz="3400" b="1" i="0" dirty="0">
                <a:solidFill>
                  <a:srgbClr val="FFFFFF"/>
                </a:solidFill>
                <a:latin typeface="Cambria"/>
              </a:rPr>
              <a:t> —</a:t>
            </a:r>
            <a:r>
              <a:rPr lang="en-US" sz="34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sz="3400" b="1" i="0" dirty="0">
                <a:solidFill>
                  <a:srgbClr val="FFFFFF"/>
                </a:solidFill>
                <a:latin typeface="Cambria"/>
              </a:rPr>
              <a:t>Parameters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24200" y="1435607"/>
            <a:ext cx="1261872" cy="585216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42488" y="1527047"/>
            <a:ext cx="12252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γ = 0.99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50080" y="1435607"/>
            <a:ext cx="4572000" cy="585216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59808" y="1527047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Discount factor — same rationale as LeDuc: hand payoffs are terminal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24200" y="2139695"/>
            <a:ext cx="1261872" cy="585216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42488" y="2231135"/>
            <a:ext cx="12252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ε: 1.0→0.02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50080" y="2139695"/>
            <a:ext cx="4572000" cy="585216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59808" y="2231135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ε(t) = max(0.02, 0.99995ᵗ) — 100k episode decay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24200" y="2843783"/>
            <a:ext cx="1261872" cy="585216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42488" y="2935223"/>
            <a:ext cx="12252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lr = 1×10⁻⁴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50080" y="2843783"/>
            <a:ext cx="4572000" cy="585216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59808" y="2935223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Adam learning rate — stable for MLP on sparse reward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24200" y="3547871"/>
            <a:ext cx="1261872" cy="585216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142488" y="3639311"/>
            <a:ext cx="12252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Buffer 100k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50080" y="3547871"/>
            <a:ext cx="4572000" cy="585216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59808" y="3639311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Replay buffer size — enough diversity to break temporal correlation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24200" y="4251959"/>
            <a:ext cx="1261872" cy="585216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142488" y="4343398"/>
            <a:ext cx="12252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Batch 128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50080" y="4251959"/>
            <a:ext cx="4572000" cy="585216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59808" y="4343398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Minibatch size — stable gradients without excessive memory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124200" y="4956047"/>
            <a:ext cx="1261872" cy="585216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142488" y="5047487"/>
            <a:ext cx="12252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Target sync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50080" y="4956047"/>
            <a:ext cx="4572000" cy="585216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59808" y="5047487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Target network synced every 1,000 gradient update steps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124200" y="5660135"/>
            <a:ext cx="1261872" cy="585216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142488" y="5751574"/>
            <a:ext cx="12252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Grad clip 10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450080" y="5660135"/>
            <a:ext cx="4572000" cy="585216"/>
          </a:xfrm>
          <a:prstGeom prst="roundRect">
            <a:avLst/>
          </a:prstGeom>
          <a:solidFill>
            <a:srgbClr val="F8F8F6"/>
          </a:solidFill>
          <a:ln w="6350">
            <a:solidFill>
              <a:srgbClr val="CC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59808" y="5751574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Gradient norm clipped at 10 — prevents exploding gradients</a:t>
            </a:r>
          </a:p>
        </p:txBody>
      </p:sp>
    </p:spTree>
  </p:cSld>
  <p:clrMapOvr>
    <a:masterClrMapping/>
  </p:clrMapOvr>
  <p:transition spd="med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Texas Hold'em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39" y="1645920"/>
            <a:ext cx="6492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B44A"/>
                </a:solidFill>
                <a:latin typeface="Calibri"/>
              </a:rPr>
              <a:t>Specialist DQN Agents — Mean Reward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2048256"/>
            <a:ext cx="1335024" cy="34747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62071" y="2066544"/>
            <a:ext cx="12984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39" y="2048256"/>
            <a:ext cx="877824" cy="34747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33671" y="2066544"/>
            <a:ext cx="8412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vs Random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39" y="2048256"/>
            <a:ext cx="969264" cy="34747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48071" y="2066544"/>
            <a:ext cx="93268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vs Limping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79" y="2048256"/>
            <a:ext cx="832103" cy="34747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53911" y="2066544"/>
            <a:ext cx="7955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vs Tight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59" y="2048256"/>
            <a:ext cx="1225295" cy="34747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22591" y="2066544"/>
            <a:ext cx="118871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vs Aggressive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57031" y="2048256"/>
            <a:ext cx="832103" cy="34747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84463" y="2066544"/>
            <a:ext cx="7955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vs Mixed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39" y="2423159"/>
            <a:ext cx="1335024" cy="49377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71215" y="2514600"/>
            <a:ext cx="12984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Random DQN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39" y="2423159"/>
            <a:ext cx="877824" cy="493776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06239" y="2514600"/>
            <a:ext cx="8778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2.79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39" y="2423159"/>
            <a:ext cx="969264" cy="493776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20639" y="2514600"/>
            <a:ext cx="9692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0.68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79" y="2423159"/>
            <a:ext cx="832103" cy="493776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79" y="2514600"/>
            <a:ext cx="8321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95159" y="2423159"/>
            <a:ext cx="1225295" cy="493776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95159" y="2514600"/>
            <a:ext cx="12252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1.13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57031" y="2423159"/>
            <a:ext cx="832103" cy="493776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57031" y="2514600"/>
            <a:ext cx="8321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1.20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39" y="2971800"/>
            <a:ext cx="1335024" cy="49377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871215" y="3063240"/>
            <a:ext cx="12984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Limping DQN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39" y="2971800"/>
            <a:ext cx="877824" cy="493776"/>
          </a:xfrm>
          <a:prstGeom prst="rect">
            <a:avLst/>
          </a:prstGeom>
          <a:solidFill>
            <a:srgbClr val="EEF5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06239" y="3063240"/>
            <a:ext cx="8778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1.02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39" y="2971800"/>
            <a:ext cx="969264" cy="493776"/>
          </a:xfrm>
          <a:prstGeom prst="rect">
            <a:avLst/>
          </a:prstGeom>
          <a:solidFill>
            <a:srgbClr val="EEF5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120639" y="3063240"/>
            <a:ext cx="9692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0.74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79" y="2971800"/>
            <a:ext cx="832103" cy="493776"/>
          </a:xfrm>
          <a:prstGeom prst="rect">
            <a:avLst/>
          </a:prstGeom>
          <a:solidFill>
            <a:srgbClr val="FA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26479" y="3063240"/>
            <a:ext cx="8321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Calibri"/>
              </a:rPr>
              <a:t>−0.57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5159" y="2971800"/>
            <a:ext cx="1225295" cy="493776"/>
          </a:xfrm>
          <a:prstGeom prst="rect">
            <a:avLst/>
          </a:prstGeom>
          <a:solidFill>
            <a:srgbClr val="EEF5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995159" y="3063240"/>
            <a:ext cx="12252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0.14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57031" y="2971800"/>
            <a:ext cx="832103" cy="493776"/>
          </a:xfrm>
          <a:prstGeom prst="rect">
            <a:avLst/>
          </a:prstGeom>
          <a:solidFill>
            <a:srgbClr val="EEF5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57031" y="3063240"/>
            <a:ext cx="8321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0.32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34639" y="3520440"/>
            <a:ext cx="1335024" cy="49377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871215" y="3611880"/>
            <a:ext cx="12984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Tight DQN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39" y="3520440"/>
            <a:ext cx="877824" cy="493776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206239" y="3611880"/>
            <a:ext cx="8778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1.80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20639" y="3520440"/>
            <a:ext cx="969264" cy="493776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120639" y="3611880"/>
            <a:ext cx="9692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0.72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79" y="3520440"/>
            <a:ext cx="832103" cy="493776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26479" y="3611880"/>
            <a:ext cx="8321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0.13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95159" y="3520440"/>
            <a:ext cx="1225295" cy="493776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995159" y="3611880"/>
            <a:ext cx="12252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0.57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57031" y="3520440"/>
            <a:ext cx="832103" cy="493776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57031" y="3611880"/>
            <a:ext cx="8321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0.86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34639" y="4069079"/>
            <a:ext cx="1335024" cy="49377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871215" y="4160519"/>
            <a:ext cx="12984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Aggressive DQN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06239" y="4069079"/>
            <a:ext cx="877824" cy="493776"/>
          </a:xfrm>
          <a:prstGeom prst="rect">
            <a:avLst/>
          </a:prstGeom>
          <a:solidFill>
            <a:srgbClr val="EEF5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206239" y="4160519"/>
            <a:ext cx="8778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2.12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20639" y="4069079"/>
            <a:ext cx="969264" cy="493776"/>
          </a:xfrm>
          <a:prstGeom prst="rect">
            <a:avLst/>
          </a:prstGeom>
          <a:solidFill>
            <a:srgbClr val="EEF5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120639" y="4160519"/>
            <a:ext cx="9692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0.75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26479" y="4069079"/>
            <a:ext cx="832103" cy="493776"/>
          </a:xfrm>
          <a:prstGeom prst="rect">
            <a:avLst/>
          </a:prstGeom>
          <a:solidFill>
            <a:srgbClr val="FA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126479" y="4160519"/>
            <a:ext cx="8321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Calibri"/>
              </a:rPr>
              <a:t>−0.11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95159" y="4069079"/>
            <a:ext cx="1225295" cy="493776"/>
          </a:xfrm>
          <a:prstGeom prst="rect">
            <a:avLst/>
          </a:prstGeom>
          <a:solidFill>
            <a:srgbClr val="EEF5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995159" y="4160519"/>
            <a:ext cx="12252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0.85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57031" y="4069079"/>
            <a:ext cx="832103" cy="493776"/>
          </a:xfrm>
          <a:prstGeom prst="rect">
            <a:avLst/>
          </a:prstGeom>
          <a:solidFill>
            <a:srgbClr val="EEF5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257031" y="4160519"/>
            <a:ext cx="8321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0.96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6CAE27-78B9-59D2-AD04-2339CB418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C130EE-FDD4-49B6-47EE-B6126B9981B7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CA1D1B-3F18-08CD-41F8-BC9905476B42}"/>
              </a:ext>
            </a:extLst>
          </p:cNvPr>
          <p:cNvSpPr txBox="1"/>
          <p:nvPr/>
        </p:nvSpPr>
        <p:spPr>
          <a:xfrm>
            <a:off x="2286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Texas Hold'em Results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65D3791-39E3-7AE7-AFEC-4B489BB0E74E}"/>
              </a:ext>
            </a:extLst>
          </p:cNvPr>
          <p:cNvSpPr txBox="1"/>
          <p:nvPr/>
        </p:nvSpPr>
        <p:spPr>
          <a:xfrm>
            <a:off x="228600" y="6199632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599"/>
                </a:solidFill>
                <a:latin typeface="Calibri"/>
              </a:rPr>
              <a:t>Horn-y Bot: +2.4 avg vs all DQN specialists · Only Limping baseline is marginally profitable (−0.04).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0A003-824B-57A9-02B1-8E8081277A76}"/>
              </a:ext>
            </a:extLst>
          </p:cNvPr>
          <p:cNvSpPr txBox="1"/>
          <p:nvPr/>
        </p:nvSpPr>
        <p:spPr>
          <a:xfrm>
            <a:off x="256032" y="10058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B44A"/>
                </a:solidFill>
                <a:latin typeface="Calibri"/>
              </a:rPr>
              <a:t>Horn-y Bot — Final Boss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A0F321-7F66-3601-9AAF-100BBA63BEE9}"/>
              </a:ext>
            </a:extLst>
          </p:cNvPr>
          <p:cNvSpPr/>
          <p:nvPr/>
        </p:nvSpPr>
        <p:spPr>
          <a:xfrm>
            <a:off x="256032" y="1463040"/>
            <a:ext cx="3931920" cy="42062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B28C2DD-F78F-7116-B988-B0993BDCE1B0}"/>
              </a:ext>
            </a:extLst>
          </p:cNvPr>
          <p:cNvSpPr txBox="1"/>
          <p:nvPr/>
        </p:nvSpPr>
        <p:spPr>
          <a:xfrm>
            <a:off x="365760" y="149961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Opponent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E7629BC-BE5F-C65A-3E9B-81A2873402E8}"/>
              </a:ext>
            </a:extLst>
          </p:cNvPr>
          <p:cNvSpPr/>
          <p:nvPr/>
        </p:nvSpPr>
        <p:spPr>
          <a:xfrm>
            <a:off x="4187952" y="1463040"/>
            <a:ext cx="1874519" cy="42062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921D5F1-5BF0-3623-B561-2239716CE319}"/>
              </a:ext>
            </a:extLst>
          </p:cNvPr>
          <p:cNvSpPr txBox="1"/>
          <p:nvPr/>
        </p:nvSpPr>
        <p:spPr>
          <a:xfrm>
            <a:off x="4206240" y="14996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Result (BB/hand)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513D51D-DE0A-208A-A3CA-B2312F1AD4EA}"/>
              </a:ext>
            </a:extLst>
          </p:cNvPr>
          <p:cNvSpPr/>
          <p:nvPr/>
        </p:nvSpPr>
        <p:spPr>
          <a:xfrm>
            <a:off x="256032" y="1920240"/>
            <a:ext cx="3931920" cy="786384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3512D47-7287-1239-DC7D-4255669D4E19}"/>
              </a:ext>
            </a:extLst>
          </p:cNvPr>
          <p:cNvSpPr txBox="1"/>
          <p:nvPr/>
        </p:nvSpPr>
        <p:spPr>
          <a:xfrm>
            <a:off x="393192" y="212140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vs Random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AF1A16D-B707-D08D-BEA3-2C6F374E1DC4}"/>
              </a:ext>
            </a:extLst>
          </p:cNvPr>
          <p:cNvSpPr/>
          <p:nvPr/>
        </p:nvSpPr>
        <p:spPr>
          <a:xfrm>
            <a:off x="4187952" y="1920240"/>
            <a:ext cx="1874519" cy="786384"/>
          </a:xfrm>
          <a:prstGeom prst="rect">
            <a:avLst/>
          </a:prstGeom>
          <a:solidFill>
            <a:srgbClr val="D5F5E3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FA3D090-CC58-42AF-84E3-5119AC28C1FB}"/>
              </a:ext>
            </a:extLst>
          </p:cNvPr>
          <p:cNvSpPr txBox="1"/>
          <p:nvPr/>
        </p:nvSpPr>
        <p:spPr>
          <a:xfrm>
            <a:off x="4187952" y="2121408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6F3D"/>
                </a:solidFill>
                <a:latin typeface="Calibri"/>
              </a:rPr>
              <a:t>+2.45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92F1BEB-69C5-405F-6989-934B79594BD0}"/>
              </a:ext>
            </a:extLst>
          </p:cNvPr>
          <p:cNvSpPr/>
          <p:nvPr/>
        </p:nvSpPr>
        <p:spPr>
          <a:xfrm>
            <a:off x="256032" y="2798064"/>
            <a:ext cx="3931920" cy="786384"/>
          </a:xfrm>
          <a:prstGeom prst="rect">
            <a:avLst/>
          </a:prstGeom>
          <a:solidFill>
            <a:srgbClr val="EEF5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12C5666-8A73-6280-2157-5DE39CFE092D}"/>
              </a:ext>
            </a:extLst>
          </p:cNvPr>
          <p:cNvSpPr txBox="1"/>
          <p:nvPr/>
        </p:nvSpPr>
        <p:spPr>
          <a:xfrm>
            <a:off x="393192" y="299923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vs Limping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CA909B76-2D7E-5E1A-D205-68F674274ED1}"/>
              </a:ext>
            </a:extLst>
          </p:cNvPr>
          <p:cNvSpPr/>
          <p:nvPr/>
        </p:nvSpPr>
        <p:spPr>
          <a:xfrm>
            <a:off x="4187952" y="2798064"/>
            <a:ext cx="1874519" cy="786384"/>
          </a:xfrm>
          <a:prstGeom prst="rect">
            <a:avLst/>
          </a:prstGeom>
          <a:solidFill>
            <a:srgbClr val="FA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193ADAC-FF5A-EADE-A274-932B243DD6D1}"/>
              </a:ext>
            </a:extLst>
          </p:cNvPr>
          <p:cNvSpPr txBox="1"/>
          <p:nvPr/>
        </p:nvSpPr>
        <p:spPr>
          <a:xfrm>
            <a:off x="4187952" y="2999232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−0.04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A3293AD-BB47-5A13-3A92-6FF2E8D2A19A}"/>
              </a:ext>
            </a:extLst>
          </p:cNvPr>
          <p:cNvSpPr/>
          <p:nvPr/>
        </p:nvSpPr>
        <p:spPr>
          <a:xfrm>
            <a:off x="256032" y="3675887"/>
            <a:ext cx="3931920" cy="786384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EDFF6EE-BE47-E068-0C32-D683E51C1F17}"/>
              </a:ext>
            </a:extLst>
          </p:cNvPr>
          <p:cNvSpPr txBox="1"/>
          <p:nvPr/>
        </p:nvSpPr>
        <p:spPr>
          <a:xfrm>
            <a:off x="393192" y="3877055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vs Tight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B8E03CDE-22B6-E8A1-29C9-84CC93AFC3B4}"/>
              </a:ext>
            </a:extLst>
          </p:cNvPr>
          <p:cNvSpPr/>
          <p:nvPr/>
        </p:nvSpPr>
        <p:spPr>
          <a:xfrm>
            <a:off x="4187952" y="3675887"/>
            <a:ext cx="1874519" cy="786384"/>
          </a:xfrm>
          <a:prstGeom prst="rect">
            <a:avLst/>
          </a:prstGeom>
          <a:solidFill>
            <a:srgbClr val="D5F5E3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07D1A02-5FA1-3B7F-3D40-FB6963E68C24}"/>
              </a:ext>
            </a:extLst>
          </p:cNvPr>
          <p:cNvSpPr txBox="1"/>
          <p:nvPr/>
        </p:nvSpPr>
        <p:spPr>
          <a:xfrm>
            <a:off x="4187952" y="3877055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6F3D"/>
                </a:solidFill>
                <a:latin typeface="Calibri"/>
              </a:rPr>
              <a:t>+0.72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7D96E1D1-2AA1-0224-317E-E0E168887C00}"/>
              </a:ext>
            </a:extLst>
          </p:cNvPr>
          <p:cNvSpPr/>
          <p:nvPr/>
        </p:nvSpPr>
        <p:spPr>
          <a:xfrm>
            <a:off x="256032" y="4553712"/>
            <a:ext cx="3931920" cy="786384"/>
          </a:xfrm>
          <a:prstGeom prst="rect">
            <a:avLst/>
          </a:prstGeom>
          <a:solidFill>
            <a:srgbClr val="EEF5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0F12E82-10F2-A674-1427-5152FB0EAE39}"/>
              </a:ext>
            </a:extLst>
          </p:cNvPr>
          <p:cNvSpPr txBox="1"/>
          <p:nvPr/>
        </p:nvSpPr>
        <p:spPr>
          <a:xfrm>
            <a:off x="393192" y="475488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vs Aggressive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67F27DA-70E3-734C-E792-3C433633A286}"/>
              </a:ext>
            </a:extLst>
          </p:cNvPr>
          <p:cNvSpPr/>
          <p:nvPr/>
        </p:nvSpPr>
        <p:spPr>
          <a:xfrm>
            <a:off x="4187952" y="4553712"/>
            <a:ext cx="1874519" cy="786384"/>
          </a:xfrm>
          <a:prstGeom prst="rect">
            <a:avLst/>
          </a:prstGeom>
          <a:solidFill>
            <a:srgbClr val="D5F5E3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6677E8D-77B4-F56B-B313-ED6FE83A254E}"/>
              </a:ext>
            </a:extLst>
          </p:cNvPr>
          <p:cNvSpPr txBox="1"/>
          <p:nvPr/>
        </p:nvSpPr>
        <p:spPr>
          <a:xfrm>
            <a:off x="4187952" y="4754880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6F3D"/>
                </a:solidFill>
                <a:latin typeface="Calibri"/>
              </a:rPr>
              <a:t>+0.85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D93D03FD-3B0E-6609-C23E-9CAE4C2631A9}"/>
              </a:ext>
            </a:extLst>
          </p:cNvPr>
          <p:cNvSpPr/>
          <p:nvPr/>
        </p:nvSpPr>
        <p:spPr>
          <a:xfrm>
            <a:off x="256032" y="5431536"/>
            <a:ext cx="3931920" cy="786384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B9DBEF5-9154-17A4-1080-9720E12224E7}"/>
              </a:ext>
            </a:extLst>
          </p:cNvPr>
          <p:cNvSpPr txBox="1"/>
          <p:nvPr/>
        </p:nvSpPr>
        <p:spPr>
          <a:xfrm>
            <a:off x="393192" y="5632703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vs DQN-Random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C6CFBD3B-F1C8-A257-F57D-F2DC0C51D0E9}"/>
              </a:ext>
            </a:extLst>
          </p:cNvPr>
          <p:cNvSpPr/>
          <p:nvPr/>
        </p:nvSpPr>
        <p:spPr>
          <a:xfrm>
            <a:off x="4187952" y="5431536"/>
            <a:ext cx="1874519" cy="786384"/>
          </a:xfrm>
          <a:prstGeom prst="rect">
            <a:avLst/>
          </a:prstGeom>
          <a:solidFill>
            <a:srgbClr val="D5F5E3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CC5C4C3-2A19-DE2A-3B12-199CABA662D1}"/>
              </a:ext>
            </a:extLst>
          </p:cNvPr>
          <p:cNvSpPr txBox="1"/>
          <p:nvPr/>
        </p:nvSpPr>
        <p:spPr>
          <a:xfrm>
            <a:off x="4187952" y="5632703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6F3D"/>
                </a:solidFill>
                <a:latin typeface="Calibri"/>
              </a:rPr>
              <a:t>+2.43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10428520-BDE5-1589-F6CB-A82AA88085A4}"/>
              </a:ext>
            </a:extLst>
          </p:cNvPr>
          <p:cNvSpPr/>
          <p:nvPr/>
        </p:nvSpPr>
        <p:spPr>
          <a:xfrm>
            <a:off x="6245352" y="1463040"/>
            <a:ext cx="3931920" cy="42062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7A1C4BF-06A3-37A4-E724-CD75B5B51BE7}"/>
              </a:ext>
            </a:extLst>
          </p:cNvPr>
          <p:cNvSpPr txBox="1"/>
          <p:nvPr/>
        </p:nvSpPr>
        <p:spPr>
          <a:xfrm>
            <a:off x="6355080" y="149961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Opponent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749DB4AE-AC19-577D-53D2-168A7B369774}"/>
              </a:ext>
            </a:extLst>
          </p:cNvPr>
          <p:cNvSpPr/>
          <p:nvPr/>
        </p:nvSpPr>
        <p:spPr>
          <a:xfrm>
            <a:off x="10177272" y="1463040"/>
            <a:ext cx="1874519" cy="42062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B746DCC8-C272-842C-5280-D49CE761920B}"/>
              </a:ext>
            </a:extLst>
          </p:cNvPr>
          <p:cNvSpPr txBox="1"/>
          <p:nvPr/>
        </p:nvSpPr>
        <p:spPr>
          <a:xfrm>
            <a:off x="10195560" y="14996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Result (BB/hand)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DC7D43A0-556E-7D63-9B06-E9F532C30F49}"/>
              </a:ext>
            </a:extLst>
          </p:cNvPr>
          <p:cNvSpPr/>
          <p:nvPr/>
        </p:nvSpPr>
        <p:spPr>
          <a:xfrm>
            <a:off x="6245352" y="1920240"/>
            <a:ext cx="3931920" cy="786384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C3EBAC4-2305-38B6-C53C-617B7D872459}"/>
              </a:ext>
            </a:extLst>
          </p:cNvPr>
          <p:cNvSpPr txBox="1"/>
          <p:nvPr/>
        </p:nvSpPr>
        <p:spPr>
          <a:xfrm>
            <a:off x="6382512" y="212140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vs DQN-Limping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F5D3514E-985E-41DC-E961-07D8D2AA5784}"/>
              </a:ext>
            </a:extLst>
          </p:cNvPr>
          <p:cNvSpPr/>
          <p:nvPr/>
        </p:nvSpPr>
        <p:spPr>
          <a:xfrm>
            <a:off x="10177272" y="1920240"/>
            <a:ext cx="1874519" cy="786384"/>
          </a:xfrm>
          <a:prstGeom prst="rect">
            <a:avLst/>
          </a:prstGeom>
          <a:solidFill>
            <a:srgbClr val="D5F5E3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EACAD26-BD2B-49BF-3A7A-255002A9721A}"/>
              </a:ext>
            </a:extLst>
          </p:cNvPr>
          <p:cNvSpPr txBox="1"/>
          <p:nvPr/>
        </p:nvSpPr>
        <p:spPr>
          <a:xfrm>
            <a:off x="10177272" y="2121408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6F3D"/>
                </a:solidFill>
                <a:latin typeface="Calibri"/>
              </a:rPr>
              <a:t>+2.48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D6D90237-3E64-6194-1064-A2B6911F2F93}"/>
              </a:ext>
            </a:extLst>
          </p:cNvPr>
          <p:cNvSpPr/>
          <p:nvPr/>
        </p:nvSpPr>
        <p:spPr>
          <a:xfrm>
            <a:off x="6245352" y="2798064"/>
            <a:ext cx="3931920" cy="786384"/>
          </a:xfrm>
          <a:prstGeom prst="rect">
            <a:avLst/>
          </a:prstGeom>
          <a:solidFill>
            <a:srgbClr val="EEF5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677A8AA-21B7-FDE3-5645-1C5BC2A1C96C}"/>
              </a:ext>
            </a:extLst>
          </p:cNvPr>
          <p:cNvSpPr txBox="1"/>
          <p:nvPr/>
        </p:nvSpPr>
        <p:spPr>
          <a:xfrm>
            <a:off x="6382512" y="299923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vs DQN-Tight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435A4354-EFEB-8AA2-C814-A84538ED52D9}"/>
              </a:ext>
            </a:extLst>
          </p:cNvPr>
          <p:cNvSpPr/>
          <p:nvPr/>
        </p:nvSpPr>
        <p:spPr>
          <a:xfrm>
            <a:off x="10177272" y="2798064"/>
            <a:ext cx="1874519" cy="786384"/>
          </a:xfrm>
          <a:prstGeom prst="rect">
            <a:avLst/>
          </a:prstGeom>
          <a:solidFill>
            <a:srgbClr val="D5F5E3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CC209B9-EEE4-562A-24F4-434D5F258E1C}"/>
              </a:ext>
            </a:extLst>
          </p:cNvPr>
          <p:cNvSpPr txBox="1"/>
          <p:nvPr/>
        </p:nvSpPr>
        <p:spPr>
          <a:xfrm>
            <a:off x="10177272" y="2999232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6F3D"/>
                </a:solidFill>
                <a:latin typeface="Calibri"/>
              </a:rPr>
              <a:t>+2.41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A7AAFDE-5F3C-9884-EDCB-EEF8071224B9}"/>
              </a:ext>
            </a:extLst>
          </p:cNvPr>
          <p:cNvSpPr/>
          <p:nvPr/>
        </p:nvSpPr>
        <p:spPr>
          <a:xfrm>
            <a:off x="6245352" y="3675887"/>
            <a:ext cx="3931920" cy="786384"/>
          </a:xfrm>
          <a:prstGeom prst="rect">
            <a:avLst/>
          </a:prstGeom>
          <a:solidFill>
            <a:srgbClr val="F8F8F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685F1EC-02E6-AD48-E500-CC6BDBA6406E}"/>
              </a:ext>
            </a:extLst>
          </p:cNvPr>
          <p:cNvSpPr txBox="1"/>
          <p:nvPr/>
        </p:nvSpPr>
        <p:spPr>
          <a:xfrm>
            <a:off x="6382512" y="3877055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vs DQN-Aggressive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6B4E050-08C4-449B-361B-CD4DED725B46}"/>
              </a:ext>
            </a:extLst>
          </p:cNvPr>
          <p:cNvSpPr/>
          <p:nvPr/>
        </p:nvSpPr>
        <p:spPr>
          <a:xfrm>
            <a:off x="10177272" y="3675887"/>
            <a:ext cx="1874519" cy="786384"/>
          </a:xfrm>
          <a:prstGeom prst="rect">
            <a:avLst/>
          </a:prstGeom>
          <a:solidFill>
            <a:srgbClr val="D5F5E3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A58282E0-16B2-83FF-4C5B-8F0764194FF8}"/>
              </a:ext>
            </a:extLst>
          </p:cNvPr>
          <p:cNvSpPr txBox="1"/>
          <p:nvPr/>
        </p:nvSpPr>
        <p:spPr>
          <a:xfrm>
            <a:off x="10177272" y="3877055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6F3D"/>
                </a:solidFill>
                <a:latin typeface="Calibri"/>
              </a:rPr>
              <a:t>+2.43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980D2893-0F09-E0FB-F5B2-313CD484710E}"/>
              </a:ext>
            </a:extLst>
          </p:cNvPr>
          <p:cNvSpPr/>
          <p:nvPr/>
        </p:nvSpPr>
        <p:spPr>
          <a:xfrm>
            <a:off x="6245352" y="4553712"/>
            <a:ext cx="3931920" cy="786384"/>
          </a:xfrm>
          <a:prstGeom prst="rect">
            <a:avLst/>
          </a:prstGeom>
          <a:solidFill>
            <a:srgbClr val="EEF5EE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8D21F2E-725C-8810-5CC5-6B28B7EBD6C6}"/>
              </a:ext>
            </a:extLst>
          </p:cNvPr>
          <p:cNvSpPr txBox="1"/>
          <p:nvPr/>
        </p:nvSpPr>
        <p:spPr>
          <a:xfrm>
            <a:off x="6382512" y="475488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vs Curriculum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E0EE06E9-117F-D4CC-95C7-09A244AAEDCF}"/>
              </a:ext>
            </a:extLst>
          </p:cNvPr>
          <p:cNvSpPr/>
          <p:nvPr/>
        </p:nvSpPr>
        <p:spPr>
          <a:xfrm>
            <a:off x="10177272" y="4553712"/>
            <a:ext cx="1874519" cy="786384"/>
          </a:xfrm>
          <a:prstGeom prst="rect">
            <a:avLst/>
          </a:prstGeom>
          <a:solidFill>
            <a:srgbClr val="D5F5E3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805EDB6-2B46-CDFA-3215-5A33817AF525}"/>
              </a:ext>
            </a:extLst>
          </p:cNvPr>
          <p:cNvSpPr txBox="1"/>
          <p:nvPr/>
        </p:nvSpPr>
        <p:spPr>
          <a:xfrm>
            <a:off x="10177272" y="4754880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6F3D"/>
                </a:solidFill>
                <a:latin typeface="Calibri"/>
              </a:rPr>
              <a:t>+2.56</a:t>
            </a:r>
          </a:p>
        </p:txBody>
      </p:sp>
    </p:spTree>
    <p:extLst>
      <p:ext uri="{BB962C8B-B14F-4D97-AF65-F5344CB8AC3E}">
        <p14:creationId xmlns:p14="http://schemas.microsoft.com/office/powerpoint/2010/main" val="155913859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896112"/>
            <a:ext cx="5303520" cy="36576"/>
          </a:xfrm>
          <a:prstGeom prst="rect">
            <a:avLst/>
          </a:prstGeom>
          <a:solidFill>
            <a:srgbClr val="E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520440" y="1962122"/>
            <a:ext cx="457200" cy="457200"/>
          </a:xfrm>
          <a:prstGeom prst="roundRect">
            <a:avLst/>
          </a:prstGeom>
          <a:solidFill>
            <a:srgbClr val="E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20440" y="201698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196212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F7E"/>
                </a:solidFill>
                <a:latin typeface="Calibri"/>
              </a:rPr>
              <a:t>01  Tabular vs Deep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2309594"/>
            <a:ext cx="4754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Calibri"/>
              </a:rPr>
              <a:t>Q-learning works for small state spaces (LeDuc, 576 pairs). Texas </a:t>
            </a:r>
            <a:r>
              <a:rPr sz="1100" b="0" i="0" dirty="0" err="1">
                <a:solidFill>
                  <a:srgbClr val="FFFFFF"/>
                </a:solidFill>
                <a:latin typeface="Calibri"/>
              </a:rPr>
              <a:t>Hold'em's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 72-dim continuous space makes tabular completely infeasible — DQN is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3487702"/>
            <a:ext cx="457200" cy="457200"/>
          </a:xfrm>
          <a:prstGeom prst="roundRect">
            <a:avLst/>
          </a:prstGeom>
          <a:solidFill>
            <a:srgbClr val="E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354256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3487702"/>
            <a:ext cx="4754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F5CF7E"/>
                </a:solidFill>
              </a:rPr>
              <a:t>04  Training ≠ Getting Better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3835174"/>
            <a:ext cx="47548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FFFFFF"/>
                </a:solidFill>
              </a:rPr>
              <a:t>Training an agent doesn't simply make it 'stronger' — it adapts to its training opponent. An agent finds the best strategy for who it has played, not a universal poker strategy.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9" grpId="0" animBg="1"/>
      <p:bldP spid="10" grpId="0"/>
      <p:bldP spid="11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00400" y="1097280"/>
            <a:ext cx="5788152" cy="4663440"/>
          </a:xfrm>
          <a:prstGeom prst="roundRect">
            <a:avLst/>
          </a:prstGeom>
          <a:solidFill>
            <a:srgbClr val="F8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37560" y="1234440"/>
            <a:ext cx="5513832" cy="4389120"/>
          </a:xfrm>
          <a:prstGeom prst="round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13716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1A1A2E"/>
                </a:solidFill>
                <a:latin typeface="Calibri"/>
              </a:rPr>
              <a:t>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840480"/>
            <a:ext cx="1218895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 dirty="0">
                <a:solidFill>
                  <a:srgbClr val="00B050"/>
                </a:solidFill>
                <a:latin typeface="Cambria"/>
              </a:rPr>
              <a:t>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5166360"/>
            <a:ext cx="3959352" cy="36576"/>
          </a:xfrm>
          <a:prstGeom prst="rect">
            <a:avLst/>
          </a:prstGeom>
          <a:solidFill>
            <a:srgbClr val="E0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0" y="5167247"/>
            <a:ext cx="121889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00B050"/>
                </a:solidFill>
                <a:latin typeface="Calibri"/>
              </a:rPr>
              <a:t>Pavlos Horn  ·  Giorgos Vogiatzis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394468"/>
            <a:ext cx="121889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latin typeface="Calibri"/>
              </a:rPr>
              <a:t>Reinforcement Learning &amp; Dynamic Optimization  —  Final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572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557055"/>
                </a:solidFill>
                <a:latin typeface="Calibri"/>
              </a:rPr>
              <a:t>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4572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557055"/>
                </a:solidFill>
                <a:latin typeface="Calibri"/>
              </a:rPr>
              <a:t>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6692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E0B44A"/>
                </a:solidFill>
                <a:latin typeface="Calibri"/>
              </a:rPr>
              <a:t>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56692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E0B44A"/>
                </a:solidFill>
                <a:latin typeface="Calibri"/>
              </a:rPr>
              <a:t>♦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1935</Words>
  <Application>Microsoft Office PowerPoint</Application>
  <PresentationFormat>Custom</PresentationFormat>
  <Paragraphs>359</Paragraphs>
  <Slides>22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PH</dc:creator>
  <cp:keywords/>
  <dc:description>generated using python-pptx</dc:description>
  <cp:lastModifiedBy>Pavlos Horn</cp:lastModifiedBy>
  <cp:revision>4</cp:revision>
  <dcterms:created xsi:type="dcterms:W3CDTF">2013-01-27T09:14:16Z</dcterms:created>
  <dcterms:modified xsi:type="dcterms:W3CDTF">2026-06-29T09:28:33Z</dcterms:modified>
  <cp:category/>
</cp:coreProperties>
</file>